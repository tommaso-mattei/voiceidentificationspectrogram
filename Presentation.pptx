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it-IT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913771560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g3b913771560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09" name="Google Shape;109;g3b913771560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901c85b18_0_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g3b901c85b18_0_8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b901c85b18_0_8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5886239a6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b5886239a6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b5886239a6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901c85b18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b901c85b18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b901c85b18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b5886239a6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g3b5886239a6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b5886239a6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b901c85b18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3b901c85b18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b901c85b18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b901c85b18_0_1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g3b901c85b18_0_14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g3b901c85b18_0_14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b901c85b18_0_1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b901c85b18_0_1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b901c85b18_0_1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b901c85b18_0_1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g3b901c85b18_0_1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g3b901c85b18_0_17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b901c85b18_0_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g3b901c85b18_0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g3b901c85b18_0_3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b901c85b18_0_2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g3b901c85b18_0_20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g3b901c85b18_0_20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b901c85b18_0_2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b901c85b18_0_2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b901c85b18_0_2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b901c85b18_0_2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g3b901c85b18_0_24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b901c85b18_0_24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b901c85b18_0_2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5" name="Google Shape;345;g3b901c85b18_0_2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b901c85b18_0_2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b901c85b18_0_2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g3b901c85b18_0_2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g3b901c85b18_0_2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b901c85b18_0_2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g3b901c85b18_0_2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g3b901c85b18_0_2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b901c85b18_0_3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g3b901c85b18_0_3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b901c85b18_0_30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b901c85b18_0_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g3b901c85b18_0_5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g3b901c85b18_0_5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9898117" y="64023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-1" y="6316318"/>
            <a:ext cx="12192000" cy="54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-1" y="6311900"/>
            <a:ext cx="756745" cy="5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1" type="ftr"/>
          </p:nvPr>
        </p:nvSpPr>
        <p:spPr>
          <a:xfrm>
            <a:off x="838200" y="6311900"/>
            <a:ext cx="11353800" cy="54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0" y="6311901"/>
            <a:ext cx="838200" cy="5460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/>
          <p:nvPr>
            <p:ph idx="10" type="dt"/>
          </p:nvPr>
        </p:nvSpPr>
        <p:spPr>
          <a:xfrm>
            <a:off x="9898117" y="64023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-1" y="6316318"/>
            <a:ext cx="12192000" cy="54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-1" y="6311900"/>
            <a:ext cx="756745" cy="5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9898117" y="64023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-1" y="6316318"/>
            <a:ext cx="12192000" cy="54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-1" y="6311900"/>
            <a:ext cx="756745" cy="5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0" type="dt"/>
          </p:nvPr>
        </p:nvSpPr>
        <p:spPr>
          <a:xfrm>
            <a:off x="9898117" y="64023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1" type="ftr"/>
          </p:nvPr>
        </p:nvSpPr>
        <p:spPr>
          <a:xfrm>
            <a:off x="-1" y="6316318"/>
            <a:ext cx="12192000" cy="54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-1" y="6311900"/>
            <a:ext cx="756745" cy="5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9898117" y="64023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-1" y="6316318"/>
            <a:ext cx="12192000" cy="54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-1" y="6311900"/>
            <a:ext cx="756745" cy="5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0" type="dt"/>
          </p:nvPr>
        </p:nvSpPr>
        <p:spPr>
          <a:xfrm>
            <a:off x="9898117" y="64023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1" type="ftr"/>
          </p:nvPr>
        </p:nvSpPr>
        <p:spPr>
          <a:xfrm>
            <a:off x="-1" y="6316318"/>
            <a:ext cx="12192000" cy="54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2" type="sldNum"/>
          </p:nvPr>
        </p:nvSpPr>
        <p:spPr>
          <a:xfrm>
            <a:off x="-1" y="6311900"/>
            <a:ext cx="756745" cy="5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0" name="Google Shape;60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1" name="Google Shape;61;p9"/>
          <p:cNvSpPr txBox="1"/>
          <p:nvPr>
            <p:ph idx="10" type="dt"/>
          </p:nvPr>
        </p:nvSpPr>
        <p:spPr>
          <a:xfrm>
            <a:off x="9898117" y="64023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-1" y="6316318"/>
            <a:ext cx="12192000" cy="54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-1" y="6311900"/>
            <a:ext cx="756745" cy="5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9898117" y="64023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-1" y="6316318"/>
            <a:ext cx="12192000" cy="54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-1" y="6311900"/>
            <a:ext cx="756745" cy="5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0" type="dt"/>
          </p:nvPr>
        </p:nvSpPr>
        <p:spPr>
          <a:xfrm>
            <a:off x="9898117" y="64023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1" type="ftr"/>
          </p:nvPr>
        </p:nvSpPr>
        <p:spPr>
          <a:xfrm>
            <a:off x="-1" y="6316318"/>
            <a:ext cx="12192000" cy="54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-1" y="6311900"/>
            <a:ext cx="756745" cy="5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0" type="dt"/>
          </p:nvPr>
        </p:nvSpPr>
        <p:spPr>
          <a:xfrm>
            <a:off x="9898117" y="64023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1" type="ftr"/>
          </p:nvPr>
        </p:nvSpPr>
        <p:spPr>
          <a:xfrm>
            <a:off x="-1" y="6316318"/>
            <a:ext cx="12192000" cy="54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2" type="sldNum"/>
          </p:nvPr>
        </p:nvSpPr>
        <p:spPr>
          <a:xfrm>
            <a:off x="-1" y="6311900"/>
            <a:ext cx="756745" cy="5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9898117" y="6402387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-1" y="6316318"/>
            <a:ext cx="12192000" cy="54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-1" y="6311900"/>
            <a:ext cx="756745" cy="5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ct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3.png"/><Relationship Id="rId5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24.png"/><Relationship Id="rId5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25.png"/><Relationship Id="rId5" Type="http://schemas.openxmlformats.org/officeDocument/2006/relationships/image" Target="../media/image2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/>
          <p:nvPr/>
        </p:nvSpPr>
        <p:spPr>
          <a:xfrm>
            <a:off x="6470374" y="-128"/>
            <a:ext cx="5847521" cy="6858127"/>
          </a:xfrm>
          <a:custGeom>
            <a:rect b="b" l="l" r="r" t="t"/>
            <a:pathLst>
              <a:path extrusionOk="0" h="6887947" w="5754756">
                <a:moveTo>
                  <a:pt x="0" y="6887947"/>
                </a:moveTo>
                <a:lnTo>
                  <a:pt x="2348134" y="128"/>
                </a:lnTo>
                <a:lnTo>
                  <a:pt x="5653179" y="0"/>
                </a:lnTo>
                <a:lnTo>
                  <a:pt x="5754756" y="6887947"/>
                </a:lnTo>
                <a:lnTo>
                  <a:pt x="0" y="6887947"/>
                </a:lnTo>
                <a:close/>
              </a:path>
            </a:pathLst>
          </a:custGeom>
          <a:solidFill>
            <a:schemeClr val="dk2"/>
          </a:solidFill>
          <a:ln cap="flat" cmpd="sng" w="19050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>
            <p:ph type="ctrTitle"/>
          </p:nvPr>
        </p:nvSpPr>
        <p:spPr>
          <a:xfrm>
            <a:off x="457201" y="2076317"/>
            <a:ext cx="7017025" cy="1084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</a:pPr>
            <a:r>
              <a:rPr b="1" lang="it-IT" sz="3000">
                <a:solidFill>
                  <a:schemeClr val="dk2"/>
                </a:solidFill>
              </a:rPr>
              <a:t>CNN Based Mel-Spectrogram </a:t>
            </a:r>
            <a:r>
              <a:rPr b="1" lang="it-IT" sz="3000">
                <a:solidFill>
                  <a:schemeClr val="dk2"/>
                </a:solidFill>
              </a:rPr>
              <a:t>Analysis</a:t>
            </a:r>
            <a:r>
              <a:rPr b="1" lang="it-IT" sz="3000">
                <a:solidFill>
                  <a:schemeClr val="dk2"/>
                </a:solidFill>
              </a:rPr>
              <a:t> and Speaker Recognition</a:t>
            </a:r>
            <a:endParaRPr b="1" sz="3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red background with white text" id="90" name="Google Shape;90;p13"/>
          <p:cNvPicPr preferRelativeResize="0"/>
          <p:nvPr/>
        </p:nvPicPr>
        <p:blipFill rotWithShape="1">
          <a:blip r:embed="rId3">
            <a:alphaModFix/>
          </a:blip>
          <a:srcRect b="0" l="16473" r="28224" t="70984"/>
          <a:stretch/>
        </p:blipFill>
        <p:spPr>
          <a:xfrm>
            <a:off x="7337563" y="4999383"/>
            <a:ext cx="4854437" cy="185861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/>
        </p:nvSpPr>
        <p:spPr>
          <a:xfrm>
            <a:off x="457200" y="4264122"/>
            <a:ext cx="6629400" cy="97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Tommaso Mattei </a:t>
            </a:r>
            <a:r>
              <a:rPr b="0" i="0" lang="it-IT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1884019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lang="it-IT" sz="1800">
                <a:solidFill>
                  <a:schemeClr val="dk1"/>
                </a:solidFill>
              </a:rPr>
              <a:t>Mattia de Luca </a:t>
            </a:r>
            <a:r>
              <a:rPr lang="it-IT" sz="1800">
                <a:solidFill>
                  <a:schemeClr val="dk1"/>
                </a:solidFill>
              </a:rPr>
              <a:t>1883820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457201" y="5928691"/>
            <a:ext cx="2117034" cy="268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it-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Academic Year 202</a:t>
            </a:r>
            <a:r>
              <a:rPr lang="it-IT">
                <a:solidFill>
                  <a:schemeClr val="dk1"/>
                </a:solidFill>
              </a:rPr>
              <a:t>5</a:t>
            </a:r>
            <a:r>
              <a:rPr b="0" i="0" lang="it-IT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/2</a:t>
            </a:r>
            <a:r>
              <a:rPr lang="it-IT">
                <a:solidFill>
                  <a:schemeClr val="dk1"/>
                </a:solidFill>
              </a:rPr>
              <a:t>6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, symbol, emblem, graphics&#10;&#10;Description automatically generated" id="98" name="Google Shape;98;p14"/>
          <p:cNvPicPr preferRelativeResize="0"/>
          <p:nvPr/>
        </p:nvPicPr>
        <p:blipFill rotWithShape="1">
          <a:blip r:embed="rId3">
            <a:alphaModFix/>
          </a:blip>
          <a:srcRect b="6976" l="10625" r="7370" t="13953"/>
          <a:stretch/>
        </p:blipFill>
        <p:spPr>
          <a:xfrm>
            <a:off x="944880" y="-1712"/>
            <a:ext cx="985520" cy="1129472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  <p:sp>
        <p:nvSpPr>
          <p:cNvPr id="100" name="Google Shape;100;p14"/>
          <p:cNvSpPr txBox="1"/>
          <p:nvPr>
            <p:ph idx="12" type="sldNum"/>
          </p:nvPr>
        </p:nvSpPr>
        <p:spPr>
          <a:xfrm>
            <a:off x="0" y="6311901"/>
            <a:ext cx="838200" cy="5460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</a:t>
            </a:r>
            <a:r>
              <a:rPr lang="it-IT"/>
              <a:t>25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2192572" y="563024"/>
            <a:ext cx="920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2"/>
                </a:solidFill>
              </a:rPr>
              <a:t>What is </a:t>
            </a:r>
            <a:r>
              <a:rPr b="1" lang="it-IT" sz="3000">
                <a:solidFill>
                  <a:schemeClr val="dk2"/>
                </a:solidFill>
              </a:rPr>
              <a:t>Speaker Recognition</a:t>
            </a:r>
            <a:endParaRPr b="1" sz="3200">
              <a:solidFill>
                <a:schemeClr val="dk2"/>
              </a:solidFill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2192572" y="409134"/>
            <a:ext cx="221046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 ●○</a:t>
            </a:r>
            <a:r>
              <a:rPr lang="it-IT">
                <a:solidFill>
                  <a:schemeClr val="dk2"/>
                </a:solidFill>
              </a:rPr>
              <a:t>○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234775" y="1308150"/>
            <a:ext cx="761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665250" y="2413050"/>
            <a:ext cx="108615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chemeClr val="dk2"/>
                </a:solidFill>
                <a:highlight>
                  <a:srgbClr val="FFFFFF"/>
                </a:highlight>
              </a:rPr>
              <a:t>Speaker recognition</a:t>
            </a:r>
            <a:r>
              <a:rPr lang="it-IT" sz="2400">
                <a:solidFill>
                  <a:srgbClr val="202122"/>
                </a:solidFill>
                <a:highlight>
                  <a:srgbClr val="FFFFFF"/>
                </a:highlight>
              </a:rPr>
              <a:t> is the identification of a person from characteristics of voices.</a:t>
            </a:r>
            <a:r>
              <a:rPr baseline="30000" lang="it-IT" sz="2400">
                <a:solidFill>
                  <a:srgbClr val="202122"/>
                </a:solidFill>
                <a:highlight>
                  <a:srgbClr val="FFFFFF"/>
                </a:highlight>
              </a:rPr>
              <a:t> </a:t>
            </a:r>
            <a:r>
              <a:rPr lang="it-IT" sz="2400">
                <a:solidFill>
                  <a:srgbClr val="202122"/>
                </a:solidFill>
                <a:highlight>
                  <a:srgbClr val="FFFFFF"/>
                </a:highlight>
              </a:rPr>
              <a:t>It is used to answer the question </a:t>
            </a:r>
            <a:r>
              <a:rPr b="1" lang="it-IT" sz="2400">
                <a:solidFill>
                  <a:schemeClr val="dk2"/>
                </a:solidFill>
                <a:highlight>
                  <a:srgbClr val="FFFFFF"/>
                </a:highlight>
              </a:rPr>
              <a:t>"Who is speaking?"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rgbClr val="202122"/>
                </a:solidFill>
                <a:highlight>
                  <a:srgbClr val="FFFFFF"/>
                </a:highlight>
              </a:rPr>
              <a:t>There are </a:t>
            </a:r>
            <a:r>
              <a:rPr b="1" lang="it-IT" sz="2400">
                <a:solidFill>
                  <a:schemeClr val="dk2"/>
                </a:solidFill>
                <a:highlight>
                  <a:srgbClr val="FFFFFF"/>
                </a:highlight>
              </a:rPr>
              <a:t>two major applications</a:t>
            </a:r>
            <a:r>
              <a:rPr lang="it-IT" sz="2400">
                <a:solidFill>
                  <a:srgbClr val="202122"/>
                </a:solidFill>
                <a:highlight>
                  <a:srgbClr val="FFFFFF"/>
                </a:highlight>
              </a:rPr>
              <a:t> of speaker recognition technologies and methodologies.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pic>
        <p:nvPicPr>
          <p:cNvPr id="105" name="Google Shape;10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4675" y="602425"/>
            <a:ext cx="506200" cy="50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, symbol, emblem, graphics&#10;&#10;Description automatically generated" id="111" name="Google Shape;111;p15"/>
          <p:cNvPicPr preferRelativeResize="0"/>
          <p:nvPr/>
        </p:nvPicPr>
        <p:blipFill rotWithShape="1">
          <a:blip r:embed="rId3">
            <a:alphaModFix/>
          </a:blip>
          <a:srcRect b="6973" l="10627" r="7371" t="13955"/>
          <a:stretch/>
        </p:blipFill>
        <p:spPr>
          <a:xfrm>
            <a:off x="944880" y="-1712"/>
            <a:ext cx="985522" cy="1129469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>
            <p:ph idx="12" type="sldNum"/>
          </p:nvPr>
        </p:nvSpPr>
        <p:spPr>
          <a:xfrm>
            <a:off x="0" y="6311901"/>
            <a:ext cx="8382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/25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2192572" y="563024"/>
            <a:ext cx="920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2"/>
                </a:solidFill>
              </a:rPr>
              <a:t>What is </a:t>
            </a:r>
            <a:r>
              <a:rPr b="1" lang="it-IT" sz="3000">
                <a:solidFill>
                  <a:schemeClr val="dk2"/>
                </a:solidFill>
              </a:rPr>
              <a:t>Speaker Recognition</a:t>
            </a:r>
            <a:endParaRPr b="1" sz="3200">
              <a:solidFill>
                <a:schemeClr val="dk2"/>
              </a:solidFill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2192572" y="409134"/>
            <a:ext cx="2210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 </a:t>
            </a:r>
            <a:r>
              <a:rPr lang="it-IT">
                <a:solidFill>
                  <a:schemeClr val="dk2"/>
                </a:solidFill>
              </a:rPr>
              <a:t>○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r>
              <a:rPr lang="it-IT">
                <a:solidFill>
                  <a:schemeClr val="dk2"/>
                </a:solidFill>
              </a:rPr>
              <a:t>○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1234775" y="1308150"/>
            <a:ext cx="761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719650" y="1559800"/>
            <a:ext cx="108615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it-IT" sz="2400">
                <a:solidFill>
                  <a:srgbClr val="202122"/>
                </a:solidFill>
                <a:highlight>
                  <a:srgbClr val="FFFFFF"/>
                </a:highlight>
              </a:rPr>
              <a:t>If the speaker </a:t>
            </a:r>
            <a:r>
              <a:rPr b="1" lang="it-IT" sz="2400">
                <a:solidFill>
                  <a:schemeClr val="dk2"/>
                </a:solidFill>
                <a:highlight>
                  <a:srgbClr val="FFFFFF"/>
                </a:highlight>
              </a:rPr>
              <a:t>claims to be of a certain identity</a:t>
            </a:r>
            <a:r>
              <a:rPr lang="it-IT" sz="2400">
                <a:solidFill>
                  <a:srgbClr val="202122"/>
                </a:solidFill>
                <a:highlight>
                  <a:srgbClr val="FFFFFF"/>
                </a:highlight>
              </a:rPr>
              <a:t> and the voice is used to verify this claim, this is called </a:t>
            </a:r>
            <a:r>
              <a:rPr b="1" i="1" lang="it-IT" sz="2400">
                <a:solidFill>
                  <a:schemeClr val="dk2"/>
                </a:solidFill>
                <a:highlight>
                  <a:srgbClr val="FFFFFF"/>
                </a:highlight>
              </a:rPr>
              <a:t>verification</a:t>
            </a:r>
            <a:r>
              <a:rPr b="1" lang="it-IT" sz="2400">
                <a:solidFill>
                  <a:schemeClr val="dk2"/>
                </a:solidFill>
                <a:highlight>
                  <a:srgbClr val="FFFFFF"/>
                </a:highlight>
              </a:rPr>
              <a:t> </a:t>
            </a:r>
            <a:r>
              <a:rPr lang="it-IT" sz="2400">
                <a:solidFill>
                  <a:schemeClr val="dk1"/>
                </a:solidFill>
                <a:highlight>
                  <a:srgbClr val="FFFFFF"/>
                </a:highlight>
              </a:rPr>
              <a:t>or</a:t>
            </a:r>
            <a:r>
              <a:rPr b="1" lang="it-IT" sz="2400">
                <a:solidFill>
                  <a:schemeClr val="dk2"/>
                </a:solidFill>
                <a:highlight>
                  <a:srgbClr val="FFFFFF"/>
                </a:highlight>
              </a:rPr>
              <a:t> </a:t>
            </a:r>
            <a:r>
              <a:rPr b="1" i="1" lang="it-IT" sz="2400">
                <a:solidFill>
                  <a:schemeClr val="dk2"/>
                </a:solidFill>
                <a:highlight>
                  <a:srgbClr val="FFFFFF"/>
                </a:highlight>
              </a:rPr>
              <a:t>authentication</a:t>
            </a:r>
            <a:r>
              <a:rPr lang="it-IT" sz="2400">
                <a:solidFill>
                  <a:srgbClr val="202122"/>
                </a:solidFill>
                <a:highlight>
                  <a:srgbClr val="FFFFFF"/>
                </a:highlight>
              </a:rPr>
              <a:t>.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02122"/>
              </a:buClr>
              <a:buSzPts val="2400"/>
              <a:buChar char="●"/>
            </a:pPr>
            <a:r>
              <a:rPr lang="it-IT" sz="2400">
                <a:solidFill>
                  <a:srgbClr val="202122"/>
                </a:solidFill>
                <a:highlight>
                  <a:srgbClr val="FFFFFF"/>
                </a:highlight>
              </a:rPr>
              <a:t> On the other hand, </a:t>
            </a:r>
            <a:r>
              <a:rPr b="1" lang="it-IT" sz="2400">
                <a:solidFill>
                  <a:schemeClr val="dk2"/>
                </a:solidFill>
                <a:highlight>
                  <a:srgbClr val="FFFFFF"/>
                </a:highlight>
              </a:rPr>
              <a:t>identification</a:t>
            </a:r>
            <a:r>
              <a:rPr lang="it-IT" sz="2400">
                <a:solidFill>
                  <a:srgbClr val="202122"/>
                </a:solidFill>
                <a:highlight>
                  <a:srgbClr val="FFFFFF"/>
                </a:highlight>
              </a:rPr>
              <a:t> is the task of determining an </a:t>
            </a:r>
            <a:r>
              <a:rPr b="1" lang="it-IT" sz="2400">
                <a:solidFill>
                  <a:schemeClr val="dk2"/>
                </a:solidFill>
                <a:highlight>
                  <a:srgbClr val="FFFFFF"/>
                </a:highlight>
              </a:rPr>
              <a:t>unknown speaker</a:t>
            </a:r>
            <a:r>
              <a:rPr lang="it-IT" sz="2400">
                <a:solidFill>
                  <a:srgbClr val="202122"/>
                </a:solidFill>
                <a:highlight>
                  <a:srgbClr val="FFFFFF"/>
                </a:highlight>
              </a:rPr>
              <a:t>'s identity.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pic>
        <p:nvPicPr>
          <p:cNvPr id="117" name="Google Shape;11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14675" y="602425"/>
            <a:ext cx="506200" cy="50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/>
          <p:nvPr/>
        </p:nvSpPr>
        <p:spPr>
          <a:xfrm>
            <a:off x="1494150" y="3429000"/>
            <a:ext cx="9203700" cy="2337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chemeClr val="dk2"/>
                </a:solidFill>
              </a:rPr>
              <a:t>speaker verification is a 1:1 match</a:t>
            </a:r>
            <a:r>
              <a:rPr lang="it-IT" sz="2400">
                <a:solidFill>
                  <a:srgbClr val="202122"/>
                </a:solidFill>
              </a:rPr>
              <a:t> where one speaker's voice is matched to a particular template whereas </a:t>
            </a:r>
            <a:r>
              <a:rPr b="1" lang="it-IT" sz="2400">
                <a:solidFill>
                  <a:schemeClr val="dk2"/>
                </a:solidFill>
              </a:rPr>
              <a:t>speaker identification is a 1:N match</a:t>
            </a:r>
            <a:r>
              <a:rPr lang="it-IT" sz="2400">
                <a:solidFill>
                  <a:srgbClr val="202122"/>
                </a:solidFill>
              </a:rPr>
              <a:t> where the voice is compared against multiple templates.</a:t>
            </a:r>
            <a:endParaRPr sz="2400"/>
          </a:p>
        </p:txBody>
      </p:sp>
      <p:sp>
        <p:nvSpPr>
          <p:cNvPr id="119" name="Google Shape;119;p15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, symbol, emblem, graphics&#10;&#10;Description automatically generated" id="125" name="Google Shape;125;p16"/>
          <p:cNvPicPr preferRelativeResize="0"/>
          <p:nvPr/>
        </p:nvPicPr>
        <p:blipFill rotWithShape="1">
          <a:blip r:embed="rId3">
            <a:alphaModFix/>
          </a:blip>
          <a:srcRect b="6976" l="10625" r="7370" t="13953"/>
          <a:stretch/>
        </p:blipFill>
        <p:spPr>
          <a:xfrm>
            <a:off x="944880" y="-1712"/>
            <a:ext cx="985520" cy="112947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2192572" y="563024"/>
            <a:ext cx="920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2"/>
                </a:solidFill>
              </a:rPr>
              <a:t>Potential Use Cases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2192572" y="409134"/>
            <a:ext cx="221046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Introduction ○</a:t>
            </a:r>
            <a:r>
              <a:rPr lang="it-IT">
                <a:solidFill>
                  <a:schemeClr val="dk2"/>
                </a:solidFill>
              </a:rPr>
              <a:t>○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6"/>
          <p:cNvSpPr txBox="1"/>
          <p:nvPr>
            <p:ph idx="12" type="sldNum"/>
          </p:nvPr>
        </p:nvSpPr>
        <p:spPr>
          <a:xfrm>
            <a:off x="0" y="6311901"/>
            <a:ext cx="698740" cy="5460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</a:t>
            </a:r>
            <a:r>
              <a:rPr lang="it-IT"/>
              <a:t>27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1234775" y="1308150"/>
            <a:ext cx="10161600" cy="49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16"/>
              <a:buChar char="•"/>
            </a:pPr>
            <a:r>
              <a:rPr lang="it-IT" sz="2400">
                <a:solidFill>
                  <a:srgbClr val="242424"/>
                </a:solidFill>
                <a:highlight>
                  <a:srgbClr val="FFFFFF"/>
                </a:highlight>
              </a:rPr>
              <a:t>Voice-based verification adds an </a:t>
            </a:r>
            <a:r>
              <a:rPr b="1" lang="it-IT" sz="2400">
                <a:solidFill>
                  <a:schemeClr val="dk2"/>
                </a:solidFill>
                <a:highlight>
                  <a:srgbClr val="FFFFFF"/>
                </a:highlight>
              </a:rPr>
              <a:t>extra layer of security</a:t>
            </a:r>
            <a:r>
              <a:rPr lang="it-IT" sz="2400">
                <a:solidFill>
                  <a:srgbClr val="242424"/>
                </a:solidFill>
                <a:highlight>
                  <a:srgbClr val="FFFFFF"/>
                </a:highlight>
              </a:rPr>
              <a:t>, making it difficult for unauthorized users to gain access. It is useful </a:t>
            </a:r>
            <a:r>
              <a:rPr b="1" lang="it-IT" sz="2400">
                <a:solidFill>
                  <a:schemeClr val="dk2"/>
                </a:solidFill>
                <a:highlight>
                  <a:srgbClr val="FFFFFF"/>
                </a:highlight>
              </a:rPr>
              <a:t>where additional authentication is needed</a:t>
            </a:r>
            <a:r>
              <a:rPr lang="it-IT" sz="2400">
                <a:solidFill>
                  <a:srgbClr val="242424"/>
                </a:solidFill>
                <a:highlight>
                  <a:srgbClr val="FFFFFF"/>
                </a:highlight>
              </a:rPr>
              <a:t>, such as secure access to sensitive information or systems. The </a:t>
            </a:r>
            <a:r>
              <a:rPr b="1" lang="it-IT" sz="2400">
                <a:solidFill>
                  <a:schemeClr val="dk2"/>
                </a:solidFill>
                <a:highlight>
                  <a:srgbClr val="FFFFFF"/>
                </a:highlight>
              </a:rPr>
              <a:t>user-friendly</a:t>
            </a:r>
            <a:r>
              <a:rPr lang="it-IT" sz="2400">
                <a:solidFill>
                  <a:srgbClr val="242424"/>
                </a:solidFill>
                <a:highlight>
                  <a:srgbClr val="FFFFFF"/>
                </a:highlight>
              </a:rPr>
              <a:t> nature of voice verification also enhances user experience, providing a seamless authentication process.</a:t>
            </a:r>
            <a:endParaRPr sz="33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16"/>
              <a:buChar char="•"/>
            </a:pPr>
            <a:r>
              <a:rPr lang="it-IT" sz="2400">
                <a:solidFill>
                  <a:schemeClr val="dk1"/>
                </a:solidFill>
              </a:rPr>
              <a:t>Voice Recognition can also be used to ensure a higher level of </a:t>
            </a:r>
            <a:r>
              <a:rPr b="1" lang="it-IT" sz="2400">
                <a:solidFill>
                  <a:schemeClr val="dk2"/>
                </a:solidFill>
              </a:rPr>
              <a:t>accessibility</a:t>
            </a:r>
            <a:r>
              <a:rPr lang="it-IT" sz="2400">
                <a:solidFill>
                  <a:schemeClr val="dk1"/>
                </a:solidFill>
              </a:rPr>
              <a:t> by allowing for an easier understanding of audio segments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30" name="Google Shape;13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61400" y="602425"/>
            <a:ext cx="506200" cy="506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  <p:sp>
        <p:nvSpPr>
          <p:cNvPr id="132" name="Google Shape;132;p16"/>
          <p:cNvSpPr txBox="1"/>
          <p:nvPr>
            <p:ph idx="12" type="sldNum"/>
          </p:nvPr>
        </p:nvSpPr>
        <p:spPr>
          <a:xfrm>
            <a:off x="0" y="6311901"/>
            <a:ext cx="8382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it-IT"/>
              <a:t>25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, symbol, emblem, graphics&#10;&#10;Description automatically generated" id="138" name="Google Shape;138;p17"/>
          <p:cNvPicPr preferRelativeResize="0"/>
          <p:nvPr/>
        </p:nvPicPr>
        <p:blipFill rotWithShape="1">
          <a:blip r:embed="rId3">
            <a:alphaModFix/>
          </a:blip>
          <a:srcRect b="6976" l="10625" r="7370" t="13953"/>
          <a:stretch/>
        </p:blipFill>
        <p:spPr>
          <a:xfrm>
            <a:off x="944880" y="-1712"/>
            <a:ext cx="985520" cy="112947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>
            <p:ph idx="12" type="sldNum"/>
          </p:nvPr>
        </p:nvSpPr>
        <p:spPr>
          <a:xfrm>
            <a:off x="0" y="6311901"/>
            <a:ext cx="838200" cy="5460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</a:t>
            </a:r>
            <a:r>
              <a:rPr lang="it-IT"/>
              <a:t>25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2192572" y="563024"/>
            <a:ext cx="9203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it-IT" sz="3200">
                <a:solidFill>
                  <a:schemeClr val="dk2"/>
                </a:solidFill>
              </a:rPr>
              <a:t>Related Works</a:t>
            </a:r>
            <a:endParaRPr b="1" sz="32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</a:endParaRPr>
          </a:p>
        </p:txBody>
      </p:sp>
      <p:sp>
        <p:nvSpPr>
          <p:cNvPr id="141" name="Google Shape;141;p17"/>
          <p:cNvSpPr txBox="1"/>
          <p:nvPr/>
        </p:nvSpPr>
        <p:spPr>
          <a:xfrm>
            <a:off x="2192575" y="409125"/>
            <a:ext cx="407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2"/>
                </a:solidFill>
              </a:rPr>
              <a:t>Sources and Inspirations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●○○</a:t>
            </a:r>
            <a:r>
              <a:rPr lang="it-IT">
                <a:solidFill>
                  <a:schemeClr val="dk2"/>
                </a:solidFill>
              </a:rPr>
              <a:t>○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7"/>
          <p:cNvSpPr txBox="1"/>
          <p:nvPr/>
        </p:nvSpPr>
        <p:spPr>
          <a:xfrm>
            <a:off x="944880" y="1486838"/>
            <a:ext cx="89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44875" y="1794650"/>
            <a:ext cx="93990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16"/>
              <a:buFont typeface="Arial"/>
              <a:buChar char="•"/>
            </a:pPr>
            <a:r>
              <a:rPr lang="it-IT" sz="2400">
                <a:solidFill>
                  <a:schemeClr val="dk1"/>
                </a:solidFill>
              </a:rPr>
              <a:t>This project’s work is largely based on the following papers:</a:t>
            </a:r>
            <a:endParaRPr b="1">
              <a:solidFill>
                <a:srgbClr val="822433"/>
              </a:solidFill>
            </a:endParaRPr>
          </a:p>
        </p:txBody>
      </p:sp>
      <p:pic>
        <p:nvPicPr>
          <p:cNvPr id="144" name="Google Shape;14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7675" y="563025"/>
            <a:ext cx="513400" cy="5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/>
          <p:nvPr/>
        </p:nvSpPr>
        <p:spPr>
          <a:xfrm>
            <a:off x="3320575" y="3149663"/>
            <a:ext cx="8075700" cy="180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2400">
                <a:solidFill>
                  <a:schemeClr val="dk1"/>
                </a:solidFill>
              </a:rPr>
              <a:t>Arsha Nagraniy, Joon Son Chungy, A. Z. </a:t>
            </a:r>
            <a:r>
              <a:rPr b="1" lang="it-IT" sz="2400">
                <a:solidFill>
                  <a:schemeClr val="dk2"/>
                </a:solidFill>
              </a:rPr>
              <a:t>Voxceleb: a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it-IT" sz="2400">
                <a:solidFill>
                  <a:schemeClr val="dk2"/>
                </a:solidFill>
              </a:rPr>
              <a:t>large-scale speaker identification dataset.</a:t>
            </a:r>
            <a:r>
              <a:rPr lang="it-IT" sz="2400">
                <a:solidFill>
                  <a:schemeClr val="dk1"/>
                </a:solidFill>
              </a:rPr>
              <a:t> 2016.</a:t>
            </a:r>
            <a:endParaRPr/>
          </a:p>
        </p:txBody>
      </p:sp>
      <p:pic>
        <p:nvPicPr>
          <p:cNvPr id="146" name="Google Shape;146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200" y="2842462"/>
            <a:ext cx="2267300" cy="22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, symbol, emblem, graphics&#10;&#10;Description automatically generated" id="153" name="Google Shape;153;p18"/>
          <p:cNvPicPr preferRelativeResize="0"/>
          <p:nvPr/>
        </p:nvPicPr>
        <p:blipFill rotWithShape="1">
          <a:blip r:embed="rId3">
            <a:alphaModFix/>
          </a:blip>
          <a:srcRect b="6973" l="10627" r="7371" t="13955"/>
          <a:stretch/>
        </p:blipFill>
        <p:spPr>
          <a:xfrm>
            <a:off x="944880" y="-1712"/>
            <a:ext cx="985522" cy="1129469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>
            <p:ph idx="12" type="sldNum"/>
          </p:nvPr>
        </p:nvSpPr>
        <p:spPr>
          <a:xfrm>
            <a:off x="0" y="6311901"/>
            <a:ext cx="8382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/25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2192572" y="563024"/>
            <a:ext cx="9203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2"/>
                </a:solidFill>
              </a:rPr>
              <a:t>Related Works</a:t>
            </a:r>
            <a:endParaRPr b="1" sz="32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200">
              <a:solidFill>
                <a:schemeClr val="dk2"/>
              </a:solidFill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2192575" y="409125"/>
            <a:ext cx="407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2"/>
                </a:solidFill>
              </a:rPr>
              <a:t>Sources and Inspirations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>
                <a:solidFill>
                  <a:schemeClr val="dk2"/>
                </a:solidFill>
              </a:rPr>
              <a:t>○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●○</a:t>
            </a:r>
            <a:r>
              <a:rPr lang="it-IT">
                <a:solidFill>
                  <a:schemeClr val="dk2"/>
                </a:solidFill>
              </a:rPr>
              <a:t>○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944880" y="1486838"/>
            <a:ext cx="8984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944875" y="1794650"/>
            <a:ext cx="93990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16"/>
              <a:buFont typeface="Arial"/>
              <a:buChar char="•"/>
            </a:pPr>
            <a:r>
              <a:rPr lang="it-IT" sz="2400">
                <a:solidFill>
                  <a:schemeClr val="dk1"/>
                </a:solidFill>
              </a:rPr>
              <a:t>This project’s work is largely based on the following papers:</a:t>
            </a:r>
            <a:endParaRPr b="1">
              <a:solidFill>
                <a:srgbClr val="822433"/>
              </a:solidFill>
            </a:endParaRPr>
          </a:p>
        </p:txBody>
      </p:sp>
      <p:pic>
        <p:nvPicPr>
          <p:cNvPr id="159" name="Google Shape;15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87675" y="563025"/>
            <a:ext cx="513400" cy="51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/>
          <p:nvPr/>
        </p:nvSpPr>
        <p:spPr>
          <a:xfrm>
            <a:off x="3320575" y="3149663"/>
            <a:ext cx="8075700" cy="180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2400">
                <a:solidFill>
                  <a:schemeClr val="dk1"/>
                </a:solidFill>
              </a:rPr>
              <a:t>T. A. E. F. </a:t>
            </a:r>
            <a:r>
              <a:rPr b="1" lang="it-IT" sz="2400">
                <a:solidFill>
                  <a:schemeClr val="dk2"/>
                </a:solidFill>
              </a:rPr>
              <a:t>Text-independent speaker identification using audio looping with margin based loss functions.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</a:rPr>
              <a:t>arXiv:2509.22838, 2025.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161" name="Google Shape;16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8200" y="2842462"/>
            <a:ext cx="2267300" cy="22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8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, symbol, emblem, graphics&#10;&#10;Description automatically generated" id="168" name="Google Shape;168;p19"/>
          <p:cNvPicPr preferRelativeResize="0"/>
          <p:nvPr/>
        </p:nvPicPr>
        <p:blipFill rotWithShape="1">
          <a:blip r:embed="rId3">
            <a:alphaModFix/>
          </a:blip>
          <a:srcRect b="6973" l="10627" r="7371" t="13955"/>
          <a:stretch/>
        </p:blipFill>
        <p:spPr>
          <a:xfrm>
            <a:off x="944880" y="-1712"/>
            <a:ext cx="985522" cy="1129469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>
            <p:ph idx="12" type="sldNum"/>
          </p:nvPr>
        </p:nvSpPr>
        <p:spPr>
          <a:xfrm>
            <a:off x="0" y="6311901"/>
            <a:ext cx="8382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</a:t>
            </a:r>
            <a:r>
              <a:rPr lang="it-IT"/>
              <a:t>25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2192572" y="563024"/>
            <a:ext cx="920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2"/>
                </a:solidFill>
              </a:rPr>
              <a:t>VoxCeleb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944875" y="1377304"/>
            <a:ext cx="89841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</a:rPr>
              <a:t>VoxCeleb is an audio-visual dataset consisting of short clips of human speech, extracted from interview videos uploaded to YouTube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2192575" y="409125"/>
            <a:ext cx="407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2"/>
                </a:solidFill>
              </a:rPr>
              <a:t>Sources and Inspirations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>
                <a:solidFill>
                  <a:schemeClr val="dk2"/>
                </a:solidFill>
              </a:rPr>
              <a:t>○○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●○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3" name="Google Shape;173;p19"/>
          <p:cNvPicPr preferRelativeResize="0"/>
          <p:nvPr/>
        </p:nvPicPr>
        <p:blipFill rotWithShape="1">
          <a:blip r:embed="rId4">
            <a:alphaModFix/>
          </a:blip>
          <a:srcRect b="0" l="0" r="55510" t="0"/>
          <a:stretch/>
        </p:blipFill>
        <p:spPr>
          <a:xfrm>
            <a:off x="944875" y="3024525"/>
            <a:ext cx="3780024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54930" r="0" t="0"/>
          <a:stretch/>
        </p:blipFill>
        <p:spPr>
          <a:xfrm>
            <a:off x="7036700" y="3024525"/>
            <a:ext cx="3829200" cy="2333625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, symbol, emblem, graphics&#10;&#10;Description automatically generated" id="181" name="Google Shape;181;p20"/>
          <p:cNvPicPr preferRelativeResize="0"/>
          <p:nvPr/>
        </p:nvPicPr>
        <p:blipFill rotWithShape="1">
          <a:blip r:embed="rId3">
            <a:alphaModFix/>
          </a:blip>
          <a:srcRect b="6976" l="10625" r="7370" t="13953"/>
          <a:stretch/>
        </p:blipFill>
        <p:spPr>
          <a:xfrm>
            <a:off x="944880" y="-1712"/>
            <a:ext cx="985520" cy="1129472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 txBox="1"/>
          <p:nvPr>
            <p:ph idx="12" type="sldNum"/>
          </p:nvPr>
        </p:nvSpPr>
        <p:spPr>
          <a:xfrm>
            <a:off x="0" y="6311901"/>
            <a:ext cx="838200" cy="54609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it-IT"/>
              <a:t>25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2192572" y="563024"/>
            <a:ext cx="920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3200"/>
              <a:buFont typeface="Arial"/>
              <a:buNone/>
            </a:pPr>
            <a:r>
              <a:rPr b="1" lang="it-IT" sz="3200">
                <a:solidFill>
                  <a:srgbClr val="822433"/>
                </a:solidFill>
              </a:rPr>
              <a:t>ResNet</a:t>
            </a:r>
            <a:endParaRPr b="1" i="0" sz="3200" u="none" cap="none" strike="noStrike">
              <a:solidFill>
                <a:srgbClr val="8224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2192575" y="409125"/>
            <a:ext cx="407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2"/>
                </a:solidFill>
              </a:rPr>
              <a:t>Sources and Inspirations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>
                <a:solidFill>
                  <a:schemeClr val="dk2"/>
                </a:solidFill>
              </a:rPr>
              <a:t>○○○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1289500" y="2413038"/>
            <a:ext cx="39210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400">
                <a:solidFill>
                  <a:schemeClr val="dk2"/>
                </a:solidFill>
              </a:rPr>
              <a:t>ResNet</a:t>
            </a:r>
            <a:r>
              <a:rPr lang="it-IT" sz="2400">
                <a:solidFill>
                  <a:srgbClr val="202122"/>
                </a:solidFill>
              </a:rPr>
              <a:t> is a deep learning architecture in which the layers learn </a:t>
            </a:r>
            <a:r>
              <a:rPr lang="it-IT" sz="2400">
                <a:solidFill>
                  <a:schemeClr val="dk2"/>
                </a:solidFill>
              </a:rPr>
              <a:t>residual functions</a:t>
            </a:r>
            <a:r>
              <a:rPr lang="it-IT" sz="2400">
                <a:solidFill>
                  <a:srgbClr val="202122"/>
                </a:solidFill>
              </a:rPr>
              <a:t> with reference to the layer inputs. </a:t>
            </a:r>
            <a:endParaRPr sz="2400">
              <a:solidFill>
                <a:srgbClr val="202122"/>
              </a:solidFill>
              <a:highlight>
                <a:srgbClr val="FFFFFF"/>
              </a:highlight>
            </a:endParaRPr>
          </a:p>
        </p:txBody>
      </p:sp>
      <p:sp>
        <p:nvSpPr>
          <p:cNvPr id="186" name="Google Shape;186;p20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  <p:pic>
        <p:nvPicPr>
          <p:cNvPr id="187" name="Google Shape;18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75375" y="2139826"/>
            <a:ext cx="5883526" cy="33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>
            <p:ph idx="12" type="sldNum"/>
          </p:nvPr>
        </p:nvSpPr>
        <p:spPr>
          <a:xfrm>
            <a:off x="-1" y="6311900"/>
            <a:ext cx="756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/27</a:t>
            </a:r>
            <a:endParaRPr/>
          </a:p>
        </p:txBody>
      </p:sp>
      <p:pic>
        <p:nvPicPr>
          <p:cNvPr descr="A picture containing logo, symbol, emblem, graphics&#10;&#10;Description automatically generated" id="194" name="Google Shape;194;p21"/>
          <p:cNvPicPr preferRelativeResize="0"/>
          <p:nvPr/>
        </p:nvPicPr>
        <p:blipFill rotWithShape="1">
          <a:blip r:embed="rId3">
            <a:alphaModFix/>
          </a:blip>
          <a:srcRect b="6973" l="10627" r="7371" t="13955"/>
          <a:stretch/>
        </p:blipFill>
        <p:spPr>
          <a:xfrm>
            <a:off x="944880" y="-1712"/>
            <a:ext cx="985522" cy="112946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1"/>
          <p:cNvSpPr txBox="1"/>
          <p:nvPr/>
        </p:nvSpPr>
        <p:spPr>
          <a:xfrm>
            <a:off x="2192572" y="563024"/>
            <a:ext cx="920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2"/>
                </a:solidFill>
              </a:rPr>
              <a:t>Model  &amp; Loss definition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2192575" y="409125"/>
            <a:ext cx="407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2"/>
                </a:solidFill>
              </a:rPr>
              <a:t>Methodology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●○○</a:t>
            </a:r>
            <a:r>
              <a:rPr lang="it-IT">
                <a:solidFill>
                  <a:schemeClr val="dk2"/>
                </a:solidFill>
              </a:rPr>
              <a:t>○○○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7" name="Google Shape;19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80025" y="542750"/>
            <a:ext cx="585000" cy="58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1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  <p:sp>
        <p:nvSpPr>
          <p:cNvPr id="199" name="Google Shape;199;p21"/>
          <p:cNvSpPr txBox="1"/>
          <p:nvPr>
            <p:ph idx="12" type="sldNum"/>
          </p:nvPr>
        </p:nvSpPr>
        <p:spPr>
          <a:xfrm>
            <a:off x="0" y="6311901"/>
            <a:ext cx="8382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it-IT"/>
              <a:t>25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536200" y="1837572"/>
            <a:ext cx="8984100" cy="3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16"/>
              <a:buFont typeface="Arial"/>
              <a:buChar char="•"/>
            </a:pPr>
            <a:r>
              <a:rPr lang="it-IT" sz="2400">
                <a:solidFill>
                  <a:schemeClr val="dk1"/>
                </a:solidFill>
              </a:rPr>
              <a:t>The </a:t>
            </a:r>
            <a:r>
              <a:rPr b="1" lang="it-IT" sz="2400">
                <a:solidFill>
                  <a:schemeClr val="dk2"/>
                </a:solidFill>
              </a:rPr>
              <a:t>ResNet50</a:t>
            </a:r>
            <a:r>
              <a:rPr lang="it-IT" sz="2400">
                <a:solidFill>
                  <a:schemeClr val="dk1"/>
                </a:solidFill>
              </a:rPr>
              <a:t> architecture is taken as a </a:t>
            </a:r>
            <a:r>
              <a:rPr lang="it-IT" sz="2400">
                <a:solidFill>
                  <a:schemeClr val="dk2"/>
                </a:solidFill>
              </a:rPr>
              <a:t>backbone</a:t>
            </a:r>
            <a:endParaRPr sz="24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16"/>
              <a:buChar char="•"/>
            </a:pPr>
            <a:r>
              <a:rPr lang="it-IT" sz="2400">
                <a:solidFill>
                  <a:schemeClr val="dk1"/>
                </a:solidFill>
              </a:rPr>
              <a:t>The fully connected layer is substituted by a</a:t>
            </a:r>
            <a:r>
              <a:rPr b="1" lang="it-IT" sz="2400">
                <a:solidFill>
                  <a:schemeClr val="dk2"/>
                </a:solidFill>
              </a:rPr>
              <a:t> linear layer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16"/>
              <a:buChar char="•"/>
            </a:pPr>
            <a:r>
              <a:rPr lang="it-IT" sz="2400">
                <a:solidFill>
                  <a:schemeClr val="dk1"/>
                </a:solidFill>
              </a:rPr>
              <a:t>The final result of the model is an </a:t>
            </a:r>
            <a:r>
              <a:rPr b="1" lang="it-IT" sz="2400">
                <a:solidFill>
                  <a:schemeClr val="dk2"/>
                </a:solidFill>
              </a:rPr>
              <a:t>embedding</a:t>
            </a:r>
            <a:endParaRPr b="1"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285750" lvl="0" marL="28575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16"/>
              <a:buChar char="•"/>
            </a:pPr>
            <a:r>
              <a:rPr lang="it-IT" sz="2400">
                <a:solidFill>
                  <a:schemeClr val="dk1"/>
                </a:solidFill>
              </a:rPr>
              <a:t>The loss used is the </a:t>
            </a:r>
            <a:r>
              <a:rPr b="1" lang="it-IT" sz="2400">
                <a:solidFill>
                  <a:schemeClr val="dk2"/>
                </a:solidFill>
              </a:rPr>
              <a:t>CosFace</a:t>
            </a:r>
            <a:r>
              <a:rPr lang="it-IT" sz="2400">
                <a:solidFill>
                  <a:schemeClr val="dk1"/>
                </a:solidFill>
              </a:rPr>
              <a:t> loss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it-IT" sz="2400">
                <a:solidFill>
                  <a:schemeClr val="dk1"/>
                </a:solidFill>
              </a:rPr>
              <a:t>Better suited for </a:t>
            </a:r>
            <a:r>
              <a:rPr lang="it-IT" sz="2400">
                <a:solidFill>
                  <a:schemeClr val="dk2"/>
                </a:solidFill>
              </a:rPr>
              <a:t>inter class separation</a:t>
            </a:r>
            <a:endParaRPr sz="2400">
              <a:solidFill>
                <a:schemeClr val="dk2"/>
              </a:solidFill>
            </a:endParaRPr>
          </a:p>
        </p:txBody>
      </p:sp>
      <p:pic>
        <p:nvPicPr>
          <p:cNvPr id="201" name="Google Shape;201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830687" y="2313766"/>
            <a:ext cx="3074000" cy="30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 txBox="1"/>
          <p:nvPr>
            <p:ph idx="12" type="sldNum"/>
          </p:nvPr>
        </p:nvSpPr>
        <p:spPr>
          <a:xfrm>
            <a:off x="-1" y="6311900"/>
            <a:ext cx="756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/27</a:t>
            </a:r>
            <a:endParaRPr/>
          </a:p>
        </p:txBody>
      </p:sp>
      <p:pic>
        <p:nvPicPr>
          <p:cNvPr descr="A picture containing logo, symbol, emblem, graphics&#10;&#10;Description automatically generated" id="208" name="Google Shape;208;p22"/>
          <p:cNvPicPr preferRelativeResize="0"/>
          <p:nvPr/>
        </p:nvPicPr>
        <p:blipFill rotWithShape="1">
          <a:blip r:embed="rId3">
            <a:alphaModFix/>
          </a:blip>
          <a:srcRect b="6973" l="10627" r="7371" t="13955"/>
          <a:stretch/>
        </p:blipFill>
        <p:spPr>
          <a:xfrm>
            <a:off x="944880" y="-1712"/>
            <a:ext cx="985522" cy="112946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2"/>
          <p:cNvSpPr txBox="1"/>
          <p:nvPr/>
        </p:nvSpPr>
        <p:spPr>
          <a:xfrm>
            <a:off x="2192572" y="563024"/>
            <a:ext cx="920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2"/>
                </a:solidFill>
              </a:rPr>
              <a:t>DataSet Analysis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2"/>
          <p:cNvSpPr txBox="1"/>
          <p:nvPr/>
        </p:nvSpPr>
        <p:spPr>
          <a:xfrm>
            <a:off x="944880" y="1486838"/>
            <a:ext cx="89841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16"/>
              <a:buFont typeface="Arial"/>
              <a:buChar char="•"/>
            </a:pPr>
            <a:r>
              <a:rPr lang="it-IT" sz="2400">
                <a:solidFill>
                  <a:schemeClr val="dk1"/>
                </a:solidFill>
              </a:rPr>
              <a:t>The dataset is structured as follows: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2192575" y="409125"/>
            <a:ext cx="407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2"/>
                </a:solidFill>
              </a:rPr>
              <a:t>Methodology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>
                <a:solidFill>
                  <a:schemeClr val="dk2"/>
                </a:solidFill>
              </a:rPr>
              <a:t>○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●○○</a:t>
            </a:r>
            <a:r>
              <a:rPr lang="it-IT">
                <a:solidFill>
                  <a:schemeClr val="dk2"/>
                </a:solidFill>
              </a:rPr>
              <a:t>○○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7300" y="2201025"/>
            <a:ext cx="1196375" cy="119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20675" y="3229475"/>
            <a:ext cx="1196375" cy="119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91600" y="4303700"/>
            <a:ext cx="1196375" cy="119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 txBox="1"/>
          <p:nvPr/>
        </p:nvSpPr>
        <p:spPr>
          <a:xfrm>
            <a:off x="2791600" y="2566338"/>
            <a:ext cx="2123400" cy="461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</a:rPr>
              <a:t>Speaker IDs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3271025" y="4259438"/>
            <a:ext cx="627600" cy="62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3271025" y="4877463"/>
            <a:ext cx="627600" cy="627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highlight>
                <a:schemeClr val="lt1"/>
              </a:highlight>
            </a:endParaRPr>
          </a:p>
        </p:txBody>
      </p:sp>
      <p:pic>
        <p:nvPicPr>
          <p:cNvPr id="218" name="Google Shape;21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9013" y="4213200"/>
            <a:ext cx="667775" cy="66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79013" y="4877475"/>
            <a:ext cx="667775" cy="66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3565225" y="3526363"/>
            <a:ext cx="4576500" cy="4617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</a:rPr>
              <a:t>A reference to the original video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21" name="Google Shape;221;p22"/>
          <p:cNvSpPr txBox="1"/>
          <p:nvPr/>
        </p:nvSpPr>
        <p:spPr>
          <a:xfrm>
            <a:off x="4258050" y="4486388"/>
            <a:ext cx="4576500" cy="8310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</a:rPr>
              <a:t>A series of audio segments of varying lengths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22" name="Google Shape;222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56500" y="716925"/>
            <a:ext cx="2990426" cy="2990426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  <p:sp>
        <p:nvSpPr>
          <p:cNvPr id="224" name="Google Shape;224;p22"/>
          <p:cNvSpPr txBox="1"/>
          <p:nvPr>
            <p:ph idx="12" type="sldNum"/>
          </p:nvPr>
        </p:nvSpPr>
        <p:spPr>
          <a:xfrm>
            <a:off x="0" y="6311901"/>
            <a:ext cx="8382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it-IT"/>
              <a:t>25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3"/>
          <p:cNvSpPr txBox="1"/>
          <p:nvPr>
            <p:ph idx="12" type="sldNum"/>
          </p:nvPr>
        </p:nvSpPr>
        <p:spPr>
          <a:xfrm>
            <a:off x="-1" y="6311900"/>
            <a:ext cx="756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/27</a:t>
            </a:r>
            <a:endParaRPr/>
          </a:p>
        </p:txBody>
      </p:sp>
      <p:pic>
        <p:nvPicPr>
          <p:cNvPr descr="A picture containing logo, symbol, emblem, graphics&#10;&#10;Description automatically generated" id="231" name="Google Shape;231;p23"/>
          <p:cNvPicPr preferRelativeResize="0"/>
          <p:nvPr/>
        </p:nvPicPr>
        <p:blipFill rotWithShape="1">
          <a:blip r:embed="rId3">
            <a:alphaModFix/>
          </a:blip>
          <a:srcRect b="6973" l="10627" r="7371" t="13955"/>
          <a:stretch/>
        </p:blipFill>
        <p:spPr>
          <a:xfrm>
            <a:off x="944880" y="-1712"/>
            <a:ext cx="985522" cy="112946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2192572" y="563024"/>
            <a:ext cx="920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2"/>
                </a:solidFill>
              </a:rPr>
              <a:t>Data Preprocessing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944880" y="1486838"/>
            <a:ext cx="89841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16"/>
              <a:buFont typeface="Arial"/>
              <a:buChar char="•"/>
            </a:pPr>
            <a:r>
              <a:rPr lang="it-IT" sz="2400">
                <a:solidFill>
                  <a:schemeClr val="dk1"/>
                </a:solidFill>
              </a:rPr>
              <a:t>Before Training the data was processed in order to improve the model’s quality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it-IT" sz="2400">
                <a:solidFill>
                  <a:schemeClr val="dk1"/>
                </a:solidFill>
              </a:rPr>
              <a:t>This was done in three main steps: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2192575" y="409125"/>
            <a:ext cx="407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2"/>
                </a:solidFill>
              </a:rPr>
              <a:t>Methodology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>
                <a:solidFill>
                  <a:schemeClr val="dk2"/>
                </a:solidFill>
              </a:rPr>
              <a:t>○○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●○○</a:t>
            </a:r>
            <a:r>
              <a:rPr lang="it-IT">
                <a:solidFill>
                  <a:schemeClr val="dk2"/>
                </a:solidFill>
              </a:rPr>
              <a:t>○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6975" y="3959825"/>
            <a:ext cx="1209850" cy="1209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3"/>
          <p:cNvSpPr/>
          <p:nvPr/>
        </p:nvSpPr>
        <p:spPr>
          <a:xfrm>
            <a:off x="3525975" y="3472875"/>
            <a:ext cx="7479000" cy="218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800">
                <a:solidFill>
                  <a:schemeClr val="dk1"/>
                </a:solidFill>
              </a:rPr>
              <a:t>Audio files trimming</a:t>
            </a:r>
            <a:endParaRPr sz="5800"/>
          </a:p>
        </p:txBody>
      </p:sp>
      <p:pic>
        <p:nvPicPr>
          <p:cNvPr id="237" name="Google Shape;23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5600" y="582525"/>
            <a:ext cx="546001" cy="54599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  <p:sp>
        <p:nvSpPr>
          <p:cNvPr id="239" name="Google Shape;239;p23"/>
          <p:cNvSpPr txBox="1"/>
          <p:nvPr>
            <p:ph idx="12" type="sldNum"/>
          </p:nvPr>
        </p:nvSpPr>
        <p:spPr>
          <a:xfrm>
            <a:off x="0" y="6311901"/>
            <a:ext cx="8382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it-IT"/>
              <a:t>25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>
            <p:ph idx="12" type="sldNum"/>
          </p:nvPr>
        </p:nvSpPr>
        <p:spPr>
          <a:xfrm>
            <a:off x="-1" y="6311900"/>
            <a:ext cx="756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/27</a:t>
            </a:r>
            <a:endParaRPr/>
          </a:p>
        </p:txBody>
      </p:sp>
      <p:pic>
        <p:nvPicPr>
          <p:cNvPr descr="A picture containing logo, symbol, emblem, graphics&#10;&#10;Description automatically generated" id="246" name="Google Shape;246;p24"/>
          <p:cNvPicPr preferRelativeResize="0"/>
          <p:nvPr/>
        </p:nvPicPr>
        <p:blipFill rotWithShape="1">
          <a:blip r:embed="rId3">
            <a:alphaModFix/>
          </a:blip>
          <a:srcRect b="6973" l="10627" r="7371" t="13955"/>
          <a:stretch/>
        </p:blipFill>
        <p:spPr>
          <a:xfrm>
            <a:off x="944880" y="-1712"/>
            <a:ext cx="985522" cy="112946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4"/>
          <p:cNvSpPr txBox="1"/>
          <p:nvPr/>
        </p:nvSpPr>
        <p:spPr>
          <a:xfrm>
            <a:off x="2192572" y="563024"/>
            <a:ext cx="920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2"/>
                </a:solidFill>
              </a:rPr>
              <a:t>Data Preprocessing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4"/>
          <p:cNvSpPr txBox="1"/>
          <p:nvPr/>
        </p:nvSpPr>
        <p:spPr>
          <a:xfrm>
            <a:off x="944880" y="1486838"/>
            <a:ext cx="89841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16"/>
              <a:buFont typeface="Arial"/>
              <a:buChar char="•"/>
            </a:pPr>
            <a:r>
              <a:rPr lang="it-IT" sz="2400">
                <a:solidFill>
                  <a:schemeClr val="dk1"/>
                </a:solidFill>
              </a:rPr>
              <a:t>Before Training the data was processed in order to improve the model’s quality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it-IT" sz="2400">
                <a:solidFill>
                  <a:schemeClr val="dk1"/>
                </a:solidFill>
              </a:rPr>
              <a:t>This was done in three main steps: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49" name="Google Shape;249;p24"/>
          <p:cNvSpPr txBox="1"/>
          <p:nvPr/>
        </p:nvSpPr>
        <p:spPr>
          <a:xfrm>
            <a:off x="2192575" y="409125"/>
            <a:ext cx="407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2"/>
                </a:solidFill>
              </a:rPr>
              <a:t>Methodology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>
                <a:solidFill>
                  <a:schemeClr val="dk2"/>
                </a:solidFill>
              </a:rPr>
              <a:t>○○○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●○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○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0" name="Google Shape;25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96975" y="3959800"/>
            <a:ext cx="1209850" cy="1209876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/>
          <p:nvPr/>
        </p:nvSpPr>
        <p:spPr>
          <a:xfrm>
            <a:off x="3525975" y="3472875"/>
            <a:ext cx="7479000" cy="218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800">
                <a:solidFill>
                  <a:schemeClr val="dk1"/>
                </a:solidFill>
              </a:rPr>
              <a:t>length equalization</a:t>
            </a:r>
            <a:endParaRPr sz="5800"/>
          </a:p>
        </p:txBody>
      </p:sp>
      <p:pic>
        <p:nvPicPr>
          <p:cNvPr id="252" name="Google Shape;252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5600" y="582525"/>
            <a:ext cx="546001" cy="54599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  <p:sp>
        <p:nvSpPr>
          <p:cNvPr id="254" name="Google Shape;254;p24"/>
          <p:cNvSpPr txBox="1"/>
          <p:nvPr>
            <p:ph idx="12" type="sldNum"/>
          </p:nvPr>
        </p:nvSpPr>
        <p:spPr>
          <a:xfrm>
            <a:off x="0" y="6311901"/>
            <a:ext cx="8382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it-IT"/>
              <a:t>25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/>
          <p:nvPr>
            <p:ph idx="12" type="sldNum"/>
          </p:nvPr>
        </p:nvSpPr>
        <p:spPr>
          <a:xfrm>
            <a:off x="-1" y="6311900"/>
            <a:ext cx="756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/27</a:t>
            </a:r>
            <a:endParaRPr/>
          </a:p>
        </p:txBody>
      </p:sp>
      <p:pic>
        <p:nvPicPr>
          <p:cNvPr descr="A picture containing logo, symbol, emblem, graphics&#10;&#10;Description automatically generated" id="261" name="Google Shape;261;p25"/>
          <p:cNvPicPr preferRelativeResize="0"/>
          <p:nvPr/>
        </p:nvPicPr>
        <p:blipFill rotWithShape="1">
          <a:blip r:embed="rId3">
            <a:alphaModFix/>
          </a:blip>
          <a:srcRect b="6973" l="10627" r="7371" t="13955"/>
          <a:stretch/>
        </p:blipFill>
        <p:spPr>
          <a:xfrm>
            <a:off x="944880" y="-1712"/>
            <a:ext cx="985522" cy="112946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5"/>
          <p:cNvSpPr txBox="1"/>
          <p:nvPr/>
        </p:nvSpPr>
        <p:spPr>
          <a:xfrm>
            <a:off x="2192572" y="563024"/>
            <a:ext cx="920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2"/>
                </a:solidFill>
              </a:rPr>
              <a:t>Data Preprocessing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944880" y="1486838"/>
            <a:ext cx="8984100" cy="132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16"/>
              <a:buFont typeface="Arial"/>
              <a:buChar char="•"/>
            </a:pPr>
            <a:r>
              <a:rPr lang="it-IT" sz="2400">
                <a:solidFill>
                  <a:schemeClr val="dk1"/>
                </a:solidFill>
              </a:rPr>
              <a:t>Before Training the data was processed in order to improve the model’s quality</a:t>
            </a:r>
            <a:endParaRPr sz="2400">
              <a:solidFill>
                <a:schemeClr val="dk1"/>
              </a:solidFill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</a:pPr>
            <a:r>
              <a:rPr lang="it-IT" sz="2400">
                <a:solidFill>
                  <a:schemeClr val="dk1"/>
                </a:solidFill>
              </a:rPr>
              <a:t>This was done in three main steps: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2192575" y="409125"/>
            <a:ext cx="407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2"/>
                </a:solidFill>
              </a:rPr>
              <a:t>Methodology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>
                <a:solidFill>
                  <a:schemeClr val="dk2"/>
                </a:solidFill>
              </a:rPr>
              <a:t>○○○○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●○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3525975" y="3472875"/>
            <a:ext cx="7479000" cy="2183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5800">
                <a:solidFill>
                  <a:schemeClr val="dk1"/>
                </a:solidFill>
              </a:rPr>
              <a:t>Mel-Spectrograms</a:t>
            </a:r>
            <a:br>
              <a:rPr lang="it-IT" sz="5800">
                <a:solidFill>
                  <a:schemeClr val="dk1"/>
                </a:solidFill>
              </a:rPr>
            </a:br>
            <a:r>
              <a:rPr lang="it-IT" sz="5800">
                <a:solidFill>
                  <a:schemeClr val="dk1"/>
                </a:solidFill>
              </a:rPr>
              <a:t>Representation</a:t>
            </a:r>
            <a:endParaRPr sz="5800"/>
          </a:p>
        </p:txBody>
      </p:sp>
      <p:pic>
        <p:nvPicPr>
          <p:cNvPr id="266" name="Google Shape;266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10050" y="3959800"/>
            <a:ext cx="1209850" cy="12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35600" y="582525"/>
            <a:ext cx="546001" cy="545999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25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  <p:sp>
        <p:nvSpPr>
          <p:cNvPr id="269" name="Google Shape;269;p25"/>
          <p:cNvSpPr txBox="1"/>
          <p:nvPr>
            <p:ph idx="12" type="sldNum"/>
          </p:nvPr>
        </p:nvSpPr>
        <p:spPr>
          <a:xfrm>
            <a:off x="0" y="6311901"/>
            <a:ext cx="8382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it-IT"/>
              <a:t>25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6"/>
          <p:cNvSpPr txBox="1"/>
          <p:nvPr>
            <p:ph idx="12" type="sldNum"/>
          </p:nvPr>
        </p:nvSpPr>
        <p:spPr>
          <a:xfrm>
            <a:off x="-1" y="6311900"/>
            <a:ext cx="756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/27</a:t>
            </a:r>
            <a:endParaRPr/>
          </a:p>
        </p:txBody>
      </p:sp>
      <p:pic>
        <p:nvPicPr>
          <p:cNvPr descr="A picture containing logo, symbol, emblem, graphics&#10;&#10;Description automatically generated" id="276" name="Google Shape;276;p26"/>
          <p:cNvPicPr preferRelativeResize="0"/>
          <p:nvPr/>
        </p:nvPicPr>
        <p:blipFill rotWithShape="1">
          <a:blip r:embed="rId3">
            <a:alphaModFix/>
          </a:blip>
          <a:srcRect b="6973" l="10627" r="7371" t="13955"/>
          <a:stretch/>
        </p:blipFill>
        <p:spPr>
          <a:xfrm>
            <a:off x="944880" y="-1712"/>
            <a:ext cx="985522" cy="1129469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6"/>
          <p:cNvSpPr txBox="1"/>
          <p:nvPr/>
        </p:nvSpPr>
        <p:spPr>
          <a:xfrm>
            <a:off x="2192572" y="563024"/>
            <a:ext cx="920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2"/>
                </a:solidFill>
              </a:rPr>
              <a:t>Why Mel-Spectrograms?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6"/>
          <p:cNvSpPr txBox="1"/>
          <p:nvPr/>
        </p:nvSpPr>
        <p:spPr>
          <a:xfrm>
            <a:off x="1109100" y="1621138"/>
            <a:ext cx="49869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it-IT" sz="2400">
                <a:solidFill>
                  <a:schemeClr val="dk1"/>
                </a:solidFill>
              </a:rPr>
              <a:t>Mel-Spectrograms use a </a:t>
            </a:r>
            <a:r>
              <a:rPr b="1" lang="it-IT" sz="2400">
                <a:solidFill>
                  <a:schemeClr val="dk2"/>
                </a:solidFill>
              </a:rPr>
              <a:t>Logarithmic scale </a:t>
            </a:r>
            <a:r>
              <a:rPr lang="it-IT" sz="2400">
                <a:solidFill>
                  <a:schemeClr val="dk1"/>
                </a:solidFill>
              </a:rPr>
              <a:t>which better represents Human </a:t>
            </a:r>
            <a:r>
              <a:rPr b="1" lang="it-IT" sz="2400">
                <a:solidFill>
                  <a:schemeClr val="dk2"/>
                </a:solidFill>
              </a:rPr>
              <a:t>Sound Perception</a:t>
            </a:r>
            <a:endParaRPr b="1" sz="2400">
              <a:solidFill>
                <a:schemeClr val="dk2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it-IT" sz="2400">
                <a:solidFill>
                  <a:schemeClr val="dk1"/>
                </a:solidFill>
              </a:rPr>
              <a:t>Better in Neural Networks due to the </a:t>
            </a:r>
            <a:r>
              <a:rPr b="1" lang="it-IT" sz="2400">
                <a:solidFill>
                  <a:schemeClr val="dk2"/>
                </a:solidFill>
              </a:rPr>
              <a:t>heightened significance </a:t>
            </a:r>
            <a:r>
              <a:rPr b="1" lang="it-IT" sz="2400">
                <a:solidFill>
                  <a:schemeClr val="dk2"/>
                </a:solidFill>
              </a:rPr>
              <a:t>of learned features</a:t>
            </a:r>
            <a:r>
              <a:rPr lang="it-IT" sz="2400">
                <a:solidFill>
                  <a:schemeClr val="dk1"/>
                </a:solidFill>
              </a:rPr>
              <a:t> because the frequency scale matches perceptual importance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2192575" y="409125"/>
            <a:ext cx="407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2"/>
                </a:solidFill>
              </a:rPr>
              <a:t>Methodology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>
                <a:solidFill>
                  <a:schemeClr val="dk2"/>
                </a:solidFill>
              </a:rPr>
              <a:t>○○○○○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0" name="Google Shape;280;p26" title="spectrogr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0" y="2206837"/>
            <a:ext cx="5791200" cy="2444338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81" name="Google Shape;281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8125" y="534781"/>
            <a:ext cx="641524" cy="64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6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  <p:sp>
        <p:nvSpPr>
          <p:cNvPr id="283" name="Google Shape;283;p26"/>
          <p:cNvSpPr txBox="1"/>
          <p:nvPr>
            <p:ph idx="12" type="sldNum"/>
          </p:nvPr>
        </p:nvSpPr>
        <p:spPr>
          <a:xfrm>
            <a:off x="0" y="6311901"/>
            <a:ext cx="8382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it-IT"/>
              <a:t>25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"/>
          <p:cNvSpPr txBox="1"/>
          <p:nvPr>
            <p:ph idx="12" type="sldNum"/>
          </p:nvPr>
        </p:nvSpPr>
        <p:spPr>
          <a:xfrm>
            <a:off x="-1" y="6311900"/>
            <a:ext cx="756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/27</a:t>
            </a:r>
            <a:endParaRPr/>
          </a:p>
        </p:txBody>
      </p:sp>
      <p:pic>
        <p:nvPicPr>
          <p:cNvPr descr="A picture containing logo, symbol, emblem, graphics&#10;&#10;Description automatically generated" id="290" name="Google Shape;290;p27"/>
          <p:cNvPicPr preferRelativeResize="0"/>
          <p:nvPr/>
        </p:nvPicPr>
        <p:blipFill rotWithShape="1">
          <a:blip r:embed="rId3">
            <a:alphaModFix/>
          </a:blip>
          <a:srcRect b="6973" l="10627" r="7371" t="13955"/>
          <a:stretch/>
        </p:blipFill>
        <p:spPr>
          <a:xfrm>
            <a:off x="944880" y="-1712"/>
            <a:ext cx="985522" cy="112946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7"/>
          <p:cNvSpPr txBox="1"/>
          <p:nvPr/>
        </p:nvSpPr>
        <p:spPr>
          <a:xfrm>
            <a:off x="2192572" y="563024"/>
            <a:ext cx="920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2"/>
                </a:solidFill>
              </a:rPr>
              <a:t>Evaluation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7"/>
          <p:cNvSpPr txBox="1"/>
          <p:nvPr/>
        </p:nvSpPr>
        <p:spPr>
          <a:xfrm>
            <a:off x="2192575" y="409125"/>
            <a:ext cx="407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2"/>
                </a:solidFill>
              </a:rPr>
              <a:t>Evaluation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●○○</a:t>
            </a:r>
            <a:r>
              <a:rPr lang="it-IT">
                <a:solidFill>
                  <a:schemeClr val="dk2"/>
                </a:solidFill>
              </a:rPr>
              <a:t>○○○○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500" y="538150"/>
            <a:ext cx="634725" cy="63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0825" y="2100049"/>
            <a:ext cx="4142300" cy="414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7"/>
          <p:cNvSpPr txBox="1"/>
          <p:nvPr/>
        </p:nvSpPr>
        <p:spPr>
          <a:xfrm>
            <a:off x="944875" y="1486850"/>
            <a:ext cx="108903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16"/>
              <a:buFont typeface="Arial"/>
              <a:buChar char="•"/>
            </a:pPr>
            <a:r>
              <a:rPr lang="it-IT" sz="2400">
                <a:solidFill>
                  <a:schemeClr val="dk1"/>
                </a:solidFill>
              </a:rPr>
              <a:t>To evaluate the System’s performance the test data was split into two groups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296" name="Google Shape;296;p27"/>
          <p:cNvSpPr/>
          <p:nvPr/>
        </p:nvSpPr>
        <p:spPr>
          <a:xfrm>
            <a:off x="5298225" y="2906000"/>
            <a:ext cx="6164400" cy="736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600"/>
              <a:t>Gallery Dataset</a:t>
            </a:r>
            <a:endParaRPr sz="4600"/>
          </a:p>
        </p:txBody>
      </p:sp>
      <p:sp>
        <p:nvSpPr>
          <p:cNvPr id="297" name="Google Shape;297;p27"/>
          <p:cNvSpPr/>
          <p:nvPr/>
        </p:nvSpPr>
        <p:spPr>
          <a:xfrm>
            <a:off x="5298225" y="4611163"/>
            <a:ext cx="6164400" cy="736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600"/>
              <a:t>Probe</a:t>
            </a:r>
            <a:r>
              <a:rPr lang="it-IT" sz="4600"/>
              <a:t> Dataset</a:t>
            </a:r>
            <a:endParaRPr sz="4600"/>
          </a:p>
        </p:txBody>
      </p:sp>
      <p:sp>
        <p:nvSpPr>
          <p:cNvPr id="298" name="Google Shape;298;p27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  <p:sp>
        <p:nvSpPr>
          <p:cNvPr id="299" name="Google Shape;299;p27"/>
          <p:cNvSpPr txBox="1"/>
          <p:nvPr>
            <p:ph idx="12" type="sldNum"/>
          </p:nvPr>
        </p:nvSpPr>
        <p:spPr>
          <a:xfrm>
            <a:off x="0" y="6311901"/>
            <a:ext cx="8382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it-IT"/>
              <a:t>25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8"/>
          <p:cNvSpPr txBox="1"/>
          <p:nvPr>
            <p:ph idx="12" type="sldNum"/>
          </p:nvPr>
        </p:nvSpPr>
        <p:spPr>
          <a:xfrm>
            <a:off x="-1" y="6311900"/>
            <a:ext cx="756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/27</a:t>
            </a:r>
            <a:endParaRPr/>
          </a:p>
        </p:txBody>
      </p:sp>
      <p:pic>
        <p:nvPicPr>
          <p:cNvPr descr="A picture containing logo, symbol, emblem, graphics&#10;&#10;Description automatically generated" id="306" name="Google Shape;306;p28"/>
          <p:cNvPicPr preferRelativeResize="0"/>
          <p:nvPr/>
        </p:nvPicPr>
        <p:blipFill rotWithShape="1">
          <a:blip r:embed="rId3">
            <a:alphaModFix/>
          </a:blip>
          <a:srcRect b="6973" l="10627" r="7371" t="13955"/>
          <a:stretch/>
        </p:blipFill>
        <p:spPr>
          <a:xfrm>
            <a:off x="944880" y="-1712"/>
            <a:ext cx="985522" cy="1129469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8"/>
          <p:cNvSpPr txBox="1"/>
          <p:nvPr/>
        </p:nvSpPr>
        <p:spPr>
          <a:xfrm>
            <a:off x="2192572" y="563024"/>
            <a:ext cx="920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2"/>
                </a:solidFill>
              </a:rPr>
              <a:t>Evaluation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28"/>
          <p:cNvSpPr txBox="1"/>
          <p:nvPr/>
        </p:nvSpPr>
        <p:spPr>
          <a:xfrm>
            <a:off x="2192575" y="409125"/>
            <a:ext cx="407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2"/>
                </a:solidFill>
              </a:rPr>
              <a:t>Evaluation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>
                <a:solidFill>
                  <a:schemeClr val="dk2"/>
                </a:solidFill>
              </a:rPr>
              <a:t>○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●○○</a:t>
            </a:r>
            <a:r>
              <a:rPr lang="it-IT">
                <a:solidFill>
                  <a:schemeClr val="dk2"/>
                </a:solidFill>
              </a:rPr>
              <a:t>○○○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500" y="538150"/>
            <a:ext cx="634725" cy="6347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8"/>
          <p:cNvSpPr txBox="1"/>
          <p:nvPr/>
        </p:nvSpPr>
        <p:spPr>
          <a:xfrm>
            <a:off x="944875" y="1486850"/>
            <a:ext cx="10890300" cy="9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16"/>
              <a:buFont typeface="Arial"/>
              <a:buChar char="•"/>
            </a:pPr>
            <a:r>
              <a:rPr lang="it-IT" sz="2400">
                <a:solidFill>
                  <a:schemeClr val="dk1"/>
                </a:solidFill>
              </a:rPr>
              <a:t>A distinct validation set was also used to find an optimal Threshold for Speaker Verification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11" name="Google Shape;311;p28"/>
          <p:cNvSpPr/>
          <p:nvPr/>
        </p:nvSpPr>
        <p:spPr>
          <a:xfrm>
            <a:off x="4663500" y="2836150"/>
            <a:ext cx="6732900" cy="3087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4500"/>
              <a:t>By collecting evaluation metrics for all possible thresholds we were able to collect these statistics</a:t>
            </a:r>
            <a:endParaRPr sz="4500"/>
          </a:p>
        </p:txBody>
      </p:sp>
      <p:pic>
        <p:nvPicPr>
          <p:cNvPr id="312" name="Google Shape;312;p28"/>
          <p:cNvPicPr preferRelativeResize="0"/>
          <p:nvPr/>
        </p:nvPicPr>
        <p:blipFill rotWithShape="1">
          <a:blip r:embed="rId5">
            <a:alphaModFix/>
          </a:blip>
          <a:srcRect b="0" l="-7410" r="7410" t="0"/>
          <a:stretch/>
        </p:blipFill>
        <p:spPr>
          <a:xfrm>
            <a:off x="163675" y="2122501"/>
            <a:ext cx="4499825" cy="44998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8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  <p:sp>
        <p:nvSpPr>
          <p:cNvPr id="314" name="Google Shape;314;p28"/>
          <p:cNvSpPr txBox="1"/>
          <p:nvPr>
            <p:ph idx="12" type="sldNum"/>
          </p:nvPr>
        </p:nvSpPr>
        <p:spPr>
          <a:xfrm>
            <a:off x="0" y="6311901"/>
            <a:ext cx="8382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it-IT"/>
              <a:t>25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9"/>
          <p:cNvSpPr txBox="1"/>
          <p:nvPr>
            <p:ph idx="12" type="sldNum"/>
          </p:nvPr>
        </p:nvSpPr>
        <p:spPr>
          <a:xfrm>
            <a:off x="-1" y="6311900"/>
            <a:ext cx="756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/27</a:t>
            </a:r>
            <a:endParaRPr/>
          </a:p>
        </p:txBody>
      </p:sp>
      <p:pic>
        <p:nvPicPr>
          <p:cNvPr descr="A picture containing logo, symbol, emblem, graphics&#10;&#10;Description automatically generated" id="321" name="Google Shape;321;p29"/>
          <p:cNvPicPr preferRelativeResize="0"/>
          <p:nvPr/>
        </p:nvPicPr>
        <p:blipFill rotWithShape="1">
          <a:blip r:embed="rId3">
            <a:alphaModFix/>
          </a:blip>
          <a:srcRect b="6973" l="10627" r="7371" t="13955"/>
          <a:stretch/>
        </p:blipFill>
        <p:spPr>
          <a:xfrm>
            <a:off x="944880" y="-1712"/>
            <a:ext cx="985522" cy="1129469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9"/>
          <p:cNvSpPr txBox="1"/>
          <p:nvPr/>
        </p:nvSpPr>
        <p:spPr>
          <a:xfrm>
            <a:off x="2192572" y="563024"/>
            <a:ext cx="920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2"/>
                </a:solidFill>
              </a:rPr>
              <a:t>Evaluation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9"/>
          <p:cNvSpPr txBox="1"/>
          <p:nvPr/>
        </p:nvSpPr>
        <p:spPr>
          <a:xfrm>
            <a:off x="2192575" y="409125"/>
            <a:ext cx="407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2"/>
                </a:solidFill>
              </a:rPr>
              <a:t>Evaluation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>
                <a:solidFill>
                  <a:schemeClr val="dk2"/>
                </a:solidFill>
              </a:rPr>
              <a:t>○○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●○○</a:t>
            </a:r>
            <a:r>
              <a:rPr lang="it-IT">
                <a:solidFill>
                  <a:schemeClr val="dk2"/>
                </a:solidFill>
              </a:rPr>
              <a:t>○○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4" name="Google Shape;324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500" y="538150"/>
            <a:ext cx="634725" cy="63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29" title="MetricsAll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7775" y="1543375"/>
            <a:ext cx="6997080" cy="43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29"/>
          <p:cNvSpPr/>
          <p:nvPr/>
        </p:nvSpPr>
        <p:spPr>
          <a:xfrm>
            <a:off x="7317175" y="2048725"/>
            <a:ext cx="4079100" cy="3366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600"/>
              <a:buChar char="●"/>
            </a:pPr>
            <a:r>
              <a:rPr b="1" lang="it-IT" sz="2600"/>
              <a:t>Detection and Identification Rate</a:t>
            </a:r>
            <a:endParaRPr b="1" sz="2600"/>
          </a:p>
          <a:p>
            <a:pPr indent="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/>
          </a:p>
          <a:p>
            <a:pPr indent="-39370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2600"/>
              <a:buChar char="●"/>
            </a:pPr>
            <a:r>
              <a:rPr b="1" lang="it-IT" sz="2600"/>
              <a:t>False Negative Identification Rate</a:t>
            </a:r>
            <a:endParaRPr b="1" sz="2600"/>
          </a:p>
          <a:p>
            <a:pPr indent="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/>
          </a:p>
          <a:p>
            <a:pPr indent="-39370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2600"/>
              <a:buChar char="●"/>
            </a:pPr>
            <a:r>
              <a:rPr b="1" lang="it-IT" sz="2600"/>
              <a:t>False Positive Identification Rate</a:t>
            </a:r>
            <a:endParaRPr b="1" sz="2600"/>
          </a:p>
        </p:txBody>
      </p:sp>
      <p:sp>
        <p:nvSpPr>
          <p:cNvPr id="327" name="Google Shape;327;p29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  <p:sp>
        <p:nvSpPr>
          <p:cNvPr id="328" name="Google Shape;328;p29"/>
          <p:cNvSpPr txBox="1"/>
          <p:nvPr>
            <p:ph idx="12" type="sldNum"/>
          </p:nvPr>
        </p:nvSpPr>
        <p:spPr>
          <a:xfrm>
            <a:off x="0" y="6311901"/>
            <a:ext cx="8382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it-IT"/>
              <a:t>25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-1" y="6311900"/>
            <a:ext cx="756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/27</a:t>
            </a:r>
            <a:endParaRPr/>
          </a:p>
        </p:txBody>
      </p:sp>
      <p:pic>
        <p:nvPicPr>
          <p:cNvPr descr="A picture containing logo, symbol, emblem, graphics&#10;&#10;Description automatically generated" id="335" name="Google Shape;335;p30"/>
          <p:cNvPicPr preferRelativeResize="0"/>
          <p:nvPr/>
        </p:nvPicPr>
        <p:blipFill rotWithShape="1">
          <a:blip r:embed="rId3">
            <a:alphaModFix/>
          </a:blip>
          <a:srcRect b="6973" l="10627" r="7371" t="13955"/>
          <a:stretch/>
        </p:blipFill>
        <p:spPr>
          <a:xfrm>
            <a:off x="944880" y="-1712"/>
            <a:ext cx="985522" cy="112946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0"/>
          <p:cNvSpPr txBox="1"/>
          <p:nvPr/>
        </p:nvSpPr>
        <p:spPr>
          <a:xfrm>
            <a:off x="2192572" y="563024"/>
            <a:ext cx="920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2"/>
                </a:solidFill>
              </a:rPr>
              <a:t>Evaluation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0"/>
          <p:cNvSpPr txBox="1"/>
          <p:nvPr/>
        </p:nvSpPr>
        <p:spPr>
          <a:xfrm>
            <a:off x="2192575" y="409125"/>
            <a:ext cx="407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2"/>
                </a:solidFill>
              </a:rPr>
              <a:t>Evaluation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>
                <a:solidFill>
                  <a:schemeClr val="dk2"/>
                </a:solidFill>
              </a:rPr>
              <a:t>○○○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●○○</a:t>
            </a:r>
            <a:r>
              <a:rPr lang="it-IT">
                <a:solidFill>
                  <a:schemeClr val="dk2"/>
                </a:solidFill>
              </a:rPr>
              <a:t>○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500" y="538150"/>
            <a:ext cx="634725" cy="63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0" title="PerformanceAll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7775" y="1543375"/>
            <a:ext cx="6997080" cy="437317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/>
          <p:nvPr/>
        </p:nvSpPr>
        <p:spPr>
          <a:xfrm>
            <a:off x="7214850" y="2693575"/>
            <a:ext cx="4079100" cy="207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Char char="●"/>
            </a:pPr>
            <a:r>
              <a:rPr b="1" lang="it-IT" sz="2600"/>
              <a:t>Rates</a:t>
            </a:r>
            <a:endParaRPr b="1" sz="26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8E7CC3"/>
              </a:buClr>
              <a:buSzPts val="2600"/>
              <a:buChar char="●"/>
            </a:pPr>
            <a:r>
              <a:rPr b="1" lang="it-IT" sz="2600"/>
              <a:t>Accuracy</a:t>
            </a:r>
            <a:endParaRPr b="1" sz="2600"/>
          </a:p>
        </p:txBody>
      </p:sp>
      <p:sp>
        <p:nvSpPr>
          <p:cNvPr id="341" name="Google Shape;341;p30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  <p:sp>
        <p:nvSpPr>
          <p:cNvPr id="342" name="Google Shape;342;p30"/>
          <p:cNvSpPr txBox="1"/>
          <p:nvPr>
            <p:ph idx="12" type="sldNum"/>
          </p:nvPr>
        </p:nvSpPr>
        <p:spPr>
          <a:xfrm>
            <a:off x="0" y="6311901"/>
            <a:ext cx="8382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it-IT"/>
              <a:t>25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1"/>
          <p:cNvSpPr txBox="1"/>
          <p:nvPr>
            <p:ph idx="12" type="sldNum"/>
          </p:nvPr>
        </p:nvSpPr>
        <p:spPr>
          <a:xfrm>
            <a:off x="-1" y="6311900"/>
            <a:ext cx="756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/27</a:t>
            </a:r>
            <a:endParaRPr/>
          </a:p>
        </p:txBody>
      </p:sp>
      <p:pic>
        <p:nvPicPr>
          <p:cNvPr descr="A picture containing logo, symbol, emblem, graphics&#10;&#10;Description automatically generated" id="349" name="Google Shape;349;p31"/>
          <p:cNvPicPr preferRelativeResize="0"/>
          <p:nvPr/>
        </p:nvPicPr>
        <p:blipFill rotWithShape="1">
          <a:blip r:embed="rId3">
            <a:alphaModFix/>
          </a:blip>
          <a:srcRect b="6973" l="10627" r="7371" t="13955"/>
          <a:stretch/>
        </p:blipFill>
        <p:spPr>
          <a:xfrm>
            <a:off x="944880" y="-1712"/>
            <a:ext cx="985522" cy="1129469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31"/>
          <p:cNvSpPr txBox="1"/>
          <p:nvPr/>
        </p:nvSpPr>
        <p:spPr>
          <a:xfrm>
            <a:off x="2192572" y="563024"/>
            <a:ext cx="920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2"/>
                </a:solidFill>
              </a:rPr>
              <a:t>Evaluation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31"/>
          <p:cNvSpPr txBox="1"/>
          <p:nvPr/>
        </p:nvSpPr>
        <p:spPr>
          <a:xfrm>
            <a:off x="2192575" y="409125"/>
            <a:ext cx="407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2"/>
                </a:solidFill>
              </a:rPr>
              <a:t>Evaluation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>
                <a:solidFill>
                  <a:schemeClr val="dk2"/>
                </a:solidFill>
              </a:rPr>
              <a:t>○○○○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●○○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2" name="Google Shape;35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500" y="538150"/>
            <a:ext cx="634725" cy="63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31" title="ROCAll.png"/>
          <p:cNvPicPr preferRelativeResize="0"/>
          <p:nvPr/>
        </p:nvPicPr>
        <p:blipFill rotWithShape="1">
          <a:blip r:embed="rId5">
            <a:alphaModFix/>
          </a:blip>
          <a:srcRect b="796" l="0" r="0" t="6541"/>
          <a:stretch/>
        </p:blipFill>
        <p:spPr>
          <a:xfrm>
            <a:off x="217775" y="1288462"/>
            <a:ext cx="6997076" cy="4862726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31"/>
          <p:cNvSpPr/>
          <p:nvPr/>
        </p:nvSpPr>
        <p:spPr>
          <a:xfrm>
            <a:off x="7214850" y="2390400"/>
            <a:ext cx="4079100" cy="207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600"/>
              <a:buChar char="●"/>
            </a:pPr>
            <a:r>
              <a:rPr b="1" lang="it-IT" sz="2600"/>
              <a:t>Roc Open Curve</a:t>
            </a:r>
            <a:endParaRPr b="1" sz="2600"/>
          </a:p>
        </p:txBody>
      </p:sp>
      <p:sp>
        <p:nvSpPr>
          <p:cNvPr id="355" name="Google Shape;355;p31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  <p:sp>
        <p:nvSpPr>
          <p:cNvPr id="356" name="Google Shape;356;p31"/>
          <p:cNvSpPr txBox="1"/>
          <p:nvPr>
            <p:ph idx="12" type="sldNum"/>
          </p:nvPr>
        </p:nvSpPr>
        <p:spPr>
          <a:xfrm>
            <a:off x="0" y="6311901"/>
            <a:ext cx="8382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it-IT"/>
              <a:t>25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2"/>
          <p:cNvSpPr txBox="1"/>
          <p:nvPr>
            <p:ph idx="12" type="sldNum"/>
          </p:nvPr>
        </p:nvSpPr>
        <p:spPr>
          <a:xfrm>
            <a:off x="-1" y="6311900"/>
            <a:ext cx="756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/27</a:t>
            </a:r>
            <a:endParaRPr/>
          </a:p>
        </p:txBody>
      </p:sp>
      <p:pic>
        <p:nvPicPr>
          <p:cNvPr descr="A picture containing logo, symbol, emblem, graphics&#10;&#10;Description automatically generated" id="363" name="Google Shape;363;p32"/>
          <p:cNvPicPr preferRelativeResize="0"/>
          <p:nvPr/>
        </p:nvPicPr>
        <p:blipFill rotWithShape="1">
          <a:blip r:embed="rId3">
            <a:alphaModFix/>
          </a:blip>
          <a:srcRect b="6973" l="10627" r="7371" t="13955"/>
          <a:stretch/>
        </p:blipFill>
        <p:spPr>
          <a:xfrm>
            <a:off x="944880" y="-1712"/>
            <a:ext cx="985522" cy="1129469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32"/>
          <p:cNvSpPr txBox="1"/>
          <p:nvPr/>
        </p:nvSpPr>
        <p:spPr>
          <a:xfrm>
            <a:off x="2192572" y="563024"/>
            <a:ext cx="920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2"/>
                </a:solidFill>
              </a:rPr>
              <a:t>Evaluation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2"/>
          <p:cNvSpPr txBox="1"/>
          <p:nvPr/>
        </p:nvSpPr>
        <p:spPr>
          <a:xfrm>
            <a:off x="2192575" y="409125"/>
            <a:ext cx="407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2"/>
                </a:solidFill>
              </a:rPr>
              <a:t>Evaluation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>
                <a:solidFill>
                  <a:schemeClr val="dk2"/>
                </a:solidFill>
              </a:rPr>
              <a:t>○○○○○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●○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6" name="Google Shape;366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500" y="538150"/>
            <a:ext cx="634725" cy="634725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2"/>
          <p:cNvSpPr txBox="1"/>
          <p:nvPr/>
        </p:nvSpPr>
        <p:spPr>
          <a:xfrm>
            <a:off x="944875" y="1486850"/>
            <a:ext cx="10890300" cy="5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16"/>
              <a:buFont typeface="Arial"/>
              <a:buChar char="•"/>
            </a:pPr>
            <a:r>
              <a:rPr lang="it-IT" sz="2400">
                <a:solidFill>
                  <a:schemeClr val="dk1"/>
                </a:solidFill>
              </a:rPr>
              <a:t>Based on these results a threshold of </a:t>
            </a:r>
            <a:r>
              <a:rPr b="1" lang="it-IT" sz="2400">
                <a:solidFill>
                  <a:schemeClr val="dk2"/>
                </a:solidFill>
              </a:rPr>
              <a:t>0.375 </a:t>
            </a:r>
            <a:r>
              <a:rPr lang="it-IT" sz="2400">
                <a:solidFill>
                  <a:schemeClr val="dk1"/>
                </a:solidFill>
              </a:rPr>
              <a:t> was chosen: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368" name="Google Shape;368;p32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  <p:sp>
        <p:nvSpPr>
          <p:cNvPr id="369" name="Google Shape;369;p32"/>
          <p:cNvSpPr txBox="1"/>
          <p:nvPr>
            <p:ph idx="12" type="sldNum"/>
          </p:nvPr>
        </p:nvSpPr>
        <p:spPr>
          <a:xfrm>
            <a:off x="0" y="6311901"/>
            <a:ext cx="8382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it-IT"/>
              <a:t>25</a:t>
            </a:r>
            <a:endParaRPr/>
          </a:p>
        </p:txBody>
      </p:sp>
      <p:pic>
        <p:nvPicPr>
          <p:cNvPr id="370" name="Google Shape;370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8425" y="2157725"/>
            <a:ext cx="9975162" cy="393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3"/>
          <p:cNvSpPr txBox="1"/>
          <p:nvPr>
            <p:ph idx="12" type="sldNum"/>
          </p:nvPr>
        </p:nvSpPr>
        <p:spPr>
          <a:xfrm>
            <a:off x="-1" y="6311900"/>
            <a:ext cx="7566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/27</a:t>
            </a:r>
            <a:endParaRPr/>
          </a:p>
        </p:txBody>
      </p:sp>
      <p:pic>
        <p:nvPicPr>
          <p:cNvPr descr="A picture containing logo, symbol, emblem, graphics&#10;&#10;Description automatically generated" id="377" name="Google Shape;377;p33"/>
          <p:cNvPicPr preferRelativeResize="0"/>
          <p:nvPr/>
        </p:nvPicPr>
        <p:blipFill rotWithShape="1">
          <a:blip r:embed="rId3">
            <a:alphaModFix/>
          </a:blip>
          <a:srcRect b="6973" l="10627" r="7371" t="13955"/>
          <a:stretch/>
        </p:blipFill>
        <p:spPr>
          <a:xfrm>
            <a:off x="944880" y="-1712"/>
            <a:ext cx="985522" cy="1129469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192572" y="563024"/>
            <a:ext cx="920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3200">
                <a:solidFill>
                  <a:schemeClr val="dk2"/>
                </a:solidFill>
              </a:rPr>
              <a:t>Evaluation</a:t>
            </a:r>
            <a:endParaRPr b="1" sz="32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2192575" y="409125"/>
            <a:ext cx="407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chemeClr val="dk2"/>
                </a:solidFill>
              </a:rPr>
              <a:t>Evaluation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>
                <a:solidFill>
                  <a:schemeClr val="dk2"/>
                </a:solidFill>
              </a:rPr>
              <a:t>○○○○○○</a:t>
            </a:r>
            <a:r>
              <a:rPr lang="it-IT" sz="1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 sz="14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0" name="Google Shape;38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63500" y="538150"/>
            <a:ext cx="634725" cy="634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3"/>
          <p:cNvSpPr txBox="1"/>
          <p:nvPr/>
        </p:nvSpPr>
        <p:spPr>
          <a:xfrm>
            <a:off x="944875" y="1486850"/>
            <a:ext cx="10890300" cy="9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16"/>
              <a:buFont typeface="Arial"/>
              <a:buChar char="•"/>
            </a:pPr>
            <a:r>
              <a:rPr lang="it-IT" sz="2400">
                <a:solidFill>
                  <a:schemeClr val="dk1"/>
                </a:solidFill>
              </a:rPr>
              <a:t>The choice of an </a:t>
            </a:r>
            <a:r>
              <a:rPr b="1" lang="it-IT" sz="2400">
                <a:solidFill>
                  <a:schemeClr val="dk2"/>
                </a:solidFill>
              </a:rPr>
              <a:t>accurate threshold</a:t>
            </a:r>
            <a:r>
              <a:rPr lang="it-IT" sz="2400">
                <a:solidFill>
                  <a:schemeClr val="dk1"/>
                </a:solidFill>
              </a:rPr>
              <a:t> is important and largely </a:t>
            </a:r>
            <a:r>
              <a:rPr b="1" lang="it-IT" sz="2400">
                <a:solidFill>
                  <a:schemeClr val="dk2"/>
                </a:solidFill>
              </a:rPr>
              <a:t>depends on the system’s use case</a:t>
            </a:r>
            <a:endParaRPr b="1" sz="2400">
              <a:solidFill>
                <a:schemeClr val="dk2"/>
              </a:solidFill>
            </a:endParaRPr>
          </a:p>
        </p:txBody>
      </p:sp>
      <p:pic>
        <p:nvPicPr>
          <p:cNvPr id="382" name="Google Shape;382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3500" y="3213475"/>
            <a:ext cx="5541349" cy="155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3"/>
          <p:cNvSpPr/>
          <p:nvPr/>
        </p:nvSpPr>
        <p:spPr>
          <a:xfrm>
            <a:off x="6664075" y="2729175"/>
            <a:ext cx="5171100" cy="2523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it-IT" sz="1700">
                <a:solidFill>
                  <a:schemeClr val="dk1"/>
                </a:solidFill>
              </a:rPr>
              <a:t>A higher threshold </a:t>
            </a:r>
            <a:r>
              <a:rPr b="1" lang="it-IT" sz="1700">
                <a:solidFill>
                  <a:schemeClr val="dk2"/>
                </a:solidFill>
              </a:rPr>
              <a:t>(0.4)</a:t>
            </a:r>
            <a:r>
              <a:rPr lang="it-IT" sz="1700">
                <a:solidFill>
                  <a:schemeClr val="dk1"/>
                </a:solidFill>
              </a:rPr>
              <a:t> prioritizes security by </a:t>
            </a:r>
            <a:r>
              <a:rPr lang="it-IT" sz="1700">
                <a:solidFill>
                  <a:schemeClr val="dk2"/>
                </a:solidFill>
              </a:rPr>
              <a:t>minimizing false accepts</a:t>
            </a:r>
            <a:r>
              <a:rPr lang="it-IT" sz="1700">
                <a:solidFill>
                  <a:schemeClr val="dk1"/>
                </a:solidFill>
              </a:rPr>
              <a:t>, while a lower threshold </a:t>
            </a:r>
            <a:r>
              <a:rPr b="1" lang="it-IT" sz="1700">
                <a:solidFill>
                  <a:schemeClr val="dk2"/>
                </a:solidFill>
              </a:rPr>
              <a:t>(0.35)</a:t>
            </a:r>
            <a:r>
              <a:rPr lang="it-IT" sz="1700">
                <a:solidFill>
                  <a:schemeClr val="dk1"/>
                </a:solidFill>
              </a:rPr>
              <a:t> improves </a:t>
            </a:r>
            <a:r>
              <a:rPr lang="it-IT" sz="1700">
                <a:solidFill>
                  <a:schemeClr val="dk2"/>
                </a:solidFill>
              </a:rPr>
              <a:t>usability</a:t>
            </a:r>
            <a:r>
              <a:rPr lang="it-IT" sz="1700">
                <a:solidFill>
                  <a:schemeClr val="dk1"/>
                </a:solidFill>
              </a:rPr>
              <a:t> at the cost of higher false positives. A mid-range threshold </a:t>
            </a:r>
            <a:r>
              <a:rPr b="1" lang="it-IT" sz="1700">
                <a:solidFill>
                  <a:schemeClr val="dk2"/>
                </a:solidFill>
              </a:rPr>
              <a:t>(0.375)</a:t>
            </a:r>
            <a:r>
              <a:rPr lang="it-IT" sz="1700">
                <a:solidFill>
                  <a:schemeClr val="dk1"/>
                </a:solidFill>
              </a:rPr>
              <a:t> provides the </a:t>
            </a:r>
            <a:r>
              <a:rPr lang="it-IT" sz="1700">
                <a:solidFill>
                  <a:schemeClr val="dk2"/>
                </a:solidFill>
              </a:rPr>
              <a:t>best balance </a:t>
            </a:r>
            <a:r>
              <a:rPr lang="it-IT" sz="1700">
                <a:solidFill>
                  <a:schemeClr val="dk1"/>
                </a:solidFill>
              </a:rPr>
              <a:t>between security and user convenience.</a:t>
            </a:r>
            <a:endParaRPr sz="3100"/>
          </a:p>
        </p:txBody>
      </p:sp>
      <p:sp>
        <p:nvSpPr>
          <p:cNvPr id="384" name="Google Shape;384;p33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  <p:sp>
        <p:nvSpPr>
          <p:cNvPr id="385" name="Google Shape;385;p33"/>
          <p:cNvSpPr txBox="1"/>
          <p:nvPr>
            <p:ph idx="12" type="sldNum"/>
          </p:nvPr>
        </p:nvSpPr>
        <p:spPr>
          <a:xfrm>
            <a:off x="0" y="6311901"/>
            <a:ext cx="8382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it-IT"/>
              <a:t>25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, symbol, emblem, graphics&#10;&#10;Description automatically generated" id="391" name="Google Shape;391;p34"/>
          <p:cNvPicPr preferRelativeResize="0"/>
          <p:nvPr/>
        </p:nvPicPr>
        <p:blipFill rotWithShape="1">
          <a:blip r:embed="rId3">
            <a:alphaModFix/>
          </a:blip>
          <a:srcRect b="6976" l="10625" r="7370" t="13953"/>
          <a:stretch/>
        </p:blipFill>
        <p:spPr>
          <a:xfrm>
            <a:off x="944880" y="-1712"/>
            <a:ext cx="985520" cy="1129472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4"/>
          <p:cNvSpPr txBox="1"/>
          <p:nvPr/>
        </p:nvSpPr>
        <p:spPr>
          <a:xfrm>
            <a:off x="2192572" y="563024"/>
            <a:ext cx="920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3200"/>
              <a:buFont typeface="Arial"/>
              <a:buNone/>
            </a:pPr>
            <a:r>
              <a:rPr b="1" lang="it-IT" sz="3200">
                <a:solidFill>
                  <a:srgbClr val="822433"/>
                </a:solidFill>
              </a:rPr>
              <a:t>Results</a:t>
            </a:r>
            <a:endParaRPr b="1" i="0" sz="3200" u="none" cap="none" strike="noStrike">
              <a:solidFill>
                <a:srgbClr val="8224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34"/>
          <p:cNvSpPr txBox="1"/>
          <p:nvPr/>
        </p:nvSpPr>
        <p:spPr>
          <a:xfrm>
            <a:off x="2192572" y="409134"/>
            <a:ext cx="416509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rgbClr val="822433"/>
                </a:solidFill>
              </a:rPr>
              <a:t>Conclusions</a:t>
            </a:r>
            <a:r>
              <a:rPr b="0" i="0" lang="it-IT" sz="1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>
                <a:solidFill>
                  <a:schemeClr val="dk2"/>
                </a:solidFill>
              </a:rPr>
              <a:t>●○</a:t>
            </a:r>
            <a:r>
              <a:rPr lang="it-IT">
                <a:solidFill>
                  <a:schemeClr val="dk2"/>
                </a:solidFill>
              </a:rPr>
              <a:t>○</a:t>
            </a:r>
            <a:endParaRPr b="0" i="0" sz="1400" u="none" cap="none" strike="noStrike">
              <a:solidFill>
                <a:srgbClr val="8224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94" name="Google Shape;394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3462" y="533860"/>
            <a:ext cx="643324" cy="643324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4"/>
          <p:cNvSpPr txBox="1"/>
          <p:nvPr/>
        </p:nvSpPr>
        <p:spPr>
          <a:xfrm>
            <a:off x="944875" y="1486850"/>
            <a:ext cx="10890300" cy="9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16"/>
              <a:buFont typeface="Arial"/>
              <a:buChar char="•"/>
            </a:pPr>
            <a:r>
              <a:rPr lang="it-IT" sz="2400">
                <a:solidFill>
                  <a:schemeClr val="dk1"/>
                </a:solidFill>
              </a:rPr>
              <a:t>This threshold was then used to </a:t>
            </a:r>
            <a:r>
              <a:rPr b="1" lang="it-IT" sz="2400">
                <a:solidFill>
                  <a:schemeClr val="dk2"/>
                </a:solidFill>
              </a:rPr>
              <a:t>evaluate </a:t>
            </a:r>
            <a:r>
              <a:rPr lang="it-IT" sz="2400">
                <a:solidFill>
                  <a:schemeClr val="dk1"/>
                </a:solidFill>
              </a:rPr>
              <a:t>the test set Giving us the following results: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396" name="Google Shape;396;p34" title="Screenshot 2026-01-19 190409-Picsart-AiImageEnhanc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30388" y="2918773"/>
            <a:ext cx="3131774" cy="21363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4"/>
          <p:cNvSpPr/>
          <p:nvPr/>
        </p:nvSpPr>
        <p:spPr>
          <a:xfrm>
            <a:off x="6357675" y="2948350"/>
            <a:ext cx="4079100" cy="20772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it-IT" sz="2600">
                <a:solidFill>
                  <a:schemeClr val="dk2"/>
                </a:solidFill>
              </a:rPr>
              <a:t>BUT HOW DO WE INTERPRET THESE RESULTS?</a:t>
            </a:r>
            <a:endParaRPr b="1" sz="2600">
              <a:solidFill>
                <a:schemeClr val="dk2"/>
              </a:solidFill>
            </a:endParaRPr>
          </a:p>
        </p:txBody>
      </p:sp>
      <p:sp>
        <p:nvSpPr>
          <p:cNvPr id="398" name="Google Shape;398;p34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  <p:sp>
        <p:nvSpPr>
          <p:cNvPr id="399" name="Google Shape;399;p34"/>
          <p:cNvSpPr txBox="1"/>
          <p:nvPr>
            <p:ph idx="12" type="sldNum"/>
          </p:nvPr>
        </p:nvSpPr>
        <p:spPr>
          <a:xfrm>
            <a:off x="0" y="6311901"/>
            <a:ext cx="8382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it-IT"/>
              <a:t>25</a:t>
            </a:r>
            <a:endParaRPr/>
          </a:p>
        </p:txBody>
      </p:sp>
      <p:sp>
        <p:nvSpPr>
          <p:cNvPr id="400" name="Google Shape;400;p34"/>
          <p:cNvSpPr txBox="1"/>
          <p:nvPr/>
        </p:nvSpPr>
        <p:spPr>
          <a:xfrm>
            <a:off x="1902375" y="4963225"/>
            <a:ext cx="3187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800">
                <a:solidFill>
                  <a:schemeClr val="dk1"/>
                </a:solidFill>
              </a:rPr>
              <a:t>Table showing the results of testing with one of the chosen values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, symbol, emblem, graphics&#10;&#10;Description automatically generated" id="406" name="Google Shape;406;p35"/>
          <p:cNvPicPr preferRelativeResize="0"/>
          <p:nvPr/>
        </p:nvPicPr>
        <p:blipFill rotWithShape="1">
          <a:blip r:embed="rId3">
            <a:alphaModFix/>
          </a:blip>
          <a:srcRect b="6973" l="10627" r="7371" t="13955"/>
          <a:stretch/>
        </p:blipFill>
        <p:spPr>
          <a:xfrm>
            <a:off x="944880" y="-1712"/>
            <a:ext cx="985522" cy="1129469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5"/>
          <p:cNvSpPr txBox="1"/>
          <p:nvPr/>
        </p:nvSpPr>
        <p:spPr>
          <a:xfrm>
            <a:off x="2192572" y="563024"/>
            <a:ext cx="920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3200"/>
              <a:buFont typeface="Arial"/>
              <a:buNone/>
            </a:pPr>
            <a:r>
              <a:rPr b="1" lang="it-IT" sz="3200">
                <a:solidFill>
                  <a:srgbClr val="822433"/>
                </a:solidFill>
              </a:rPr>
              <a:t>Results</a:t>
            </a:r>
            <a:endParaRPr b="1" i="0" sz="3200" u="none" cap="none" strike="noStrike">
              <a:solidFill>
                <a:srgbClr val="8224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35"/>
          <p:cNvSpPr txBox="1"/>
          <p:nvPr/>
        </p:nvSpPr>
        <p:spPr>
          <a:xfrm>
            <a:off x="2192572" y="409134"/>
            <a:ext cx="416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rgbClr val="822433"/>
                </a:solidFill>
              </a:rPr>
              <a:t>Conclusions</a:t>
            </a:r>
            <a:r>
              <a:rPr b="0" i="0" lang="it-IT" sz="1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>
                <a:solidFill>
                  <a:schemeClr val="dk2"/>
                </a:solidFill>
              </a:rPr>
              <a:t>○</a:t>
            </a:r>
            <a:r>
              <a:rPr lang="it-IT">
                <a:solidFill>
                  <a:schemeClr val="dk2"/>
                </a:solidFill>
              </a:rPr>
              <a:t>●○</a:t>
            </a:r>
            <a:endParaRPr b="0" i="0" sz="1400" u="none" cap="none" strike="noStrike">
              <a:solidFill>
                <a:srgbClr val="8224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53462" y="533860"/>
            <a:ext cx="643324" cy="643324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5"/>
          <p:cNvSpPr txBox="1"/>
          <p:nvPr/>
        </p:nvSpPr>
        <p:spPr>
          <a:xfrm>
            <a:off x="650850" y="1990563"/>
            <a:ext cx="108903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</a:rPr>
              <a:t>The system can be considered </a:t>
            </a:r>
            <a:r>
              <a:rPr b="1" lang="it-IT" sz="2400">
                <a:solidFill>
                  <a:schemeClr val="dk2"/>
                </a:solidFill>
              </a:rPr>
              <a:t>conservative</a:t>
            </a:r>
            <a:r>
              <a:rPr lang="it-IT" sz="2400">
                <a:solidFill>
                  <a:schemeClr val="dk1"/>
                </a:solidFill>
              </a:rPr>
              <a:t>, </a:t>
            </a:r>
            <a:r>
              <a:rPr b="1" lang="it-IT" sz="2400">
                <a:solidFill>
                  <a:schemeClr val="dk2"/>
                </a:solidFill>
              </a:rPr>
              <a:t>secure</a:t>
            </a:r>
            <a:r>
              <a:rPr lang="it-IT" sz="2400">
                <a:solidFill>
                  <a:schemeClr val="dk1"/>
                </a:solidFill>
              </a:rPr>
              <a:t>, and </a:t>
            </a:r>
            <a:r>
              <a:rPr b="1" lang="it-IT" sz="2400">
                <a:solidFill>
                  <a:schemeClr val="dk2"/>
                </a:solidFill>
              </a:rPr>
              <a:t>accurate</a:t>
            </a:r>
            <a:r>
              <a:rPr lang="it-IT" sz="2400">
                <a:solidFill>
                  <a:schemeClr val="dk2"/>
                </a:solidFill>
              </a:rPr>
              <a:t> </a:t>
            </a:r>
            <a:r>
              <a:rPr lang="it-IT" sz="2400">
                <a:solidFill>
                  <a:schemeClr val="dk1"/>
                </a:solidFill>
              </a:rPr>
              <a:t>overall, but misses nearly half of legitimate users.</a:t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2400">
                <a:solidFill>
                  <a:schemeClr val="dk1"/>
                </a:solidFill>
              </a:rPr>
              <a:t>Performance </a:t>
            </a:r>
            <a:r>
              <a:rPr b="1" lang="it-IT" sz="2400">
                <a:solidFill>
                  <a:schemeClr val="dk2"/>
                </a:solidFill>
              </a:rPr>
              <a:t>tuning</a:t>
            </a:r>
            <a:r>
              <a:rPr lang="it-IT" sz="2400">
                <a:solidFill>
                  <a:schemeClr val="dk1"/>
                </a:solidFill>
              </a:rPr>
              <a:t> should focus on improving DIR while controlling FPIR, depending on application requirements.</a:t>
            </a:r>
            <a:endParaRPr sz="24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it-IT" sz="2400">
                <a:solidFill>
                  <a:schemeClr val="dk1"/>
                </a:solidFill>
              </a:rPr>
              <a:t>Suitable for high-security environments where false accepts are costly</a:t>
            </a:r>
            <a:endParaRPr sz="2400">
              <a:solidFill>
                <a:schemeClr val="dk1"/>
              </a:solidFill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it-IT" sz="2400">
                <a:solidFill>
                  <a:schemeClr val="dk1"/>
                </a:solidFill>
              </a:rPr>
              <a:t>Not ideal for user-convenience-focused applications</a:t>
            </a:r>
            <a:endParaRPr sz="2400">
              <a:solidFill>
                <a:schemeClr val="dk1"/>
              </a:solidFill>
            </a:endParaRPr>
          </a:p>
        </p:txBody>
      </p:sp>
      <p:sp>
        <p:nvSpPr>
          <p:cNvPr id="411" name="Google Shape;411;p35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  <p:sp>
        <p:nvSpPr>
          <p:cNvPr id="412" name="Google Shape;412;p35"/>
          <p:cNvSpPr txBox="1"/>
          <p:nvPr>
            <p:ph idx="12" type="sldNum"/>
          </p:nvPr>
        </p:nvSpPr>
        <p:spPr>
          <a:xfrm>
            <a:off x="0" y="6311901"/>
            <a:ext cx="8382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it-IT"/>
              <a:t>25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, symbol, emblem, graphics&#10;&#10;Description automatically generated" id="418" name="Google Shape;418;p36"/>
          <p:cNvPicPr preferRelativeResize="0"/>
          <p:nvPr/>
        </p:nvPicPr>
        <p:blipFill rotWithShape="1">
          <a:blip r:embed="rId3">
            <a:alphaModFix/>
          </a:blip>
          <a:srcRect b="6973" l="10627" r="7371" t="13955"/>
          <a:stretch/>
        </p:blipFill>
        <p:spPr>
          <a:xfrm>
            <a:off x="944880" y="-1712"/>
            <a:ext cx="985522" cy="1129469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6"/>
          <p:cNvSpPr txBox="1"/>
          <p:nvPr/>
        </p:nvSpPr>
        <p:spPr>
          <a:xfrm>
            <a:off x="2192572" y="563024"/>
            <a:ext cx="92037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22433"/>
              </a:buClr>
              <a:buSzPts val="3200"/>
              <a:buFont typeface="Arial"/>
              <a:buNone/>
            </a:pPr>
            <a:r>
              <a:rPr b="1" lang="it-IT" sz="3200">
                <a:solidFill>
                  <a:srgbClr val="822433"/>
                </a:solidFill>
              </a:rPr>
              <a:t>Future Works</a:t>
            </a:r>
            <a:endParaRPr b="1" i="0" sz="3200" u="none" cap="none" strike="noStrike">
              <a:solidFill>
                <a:srgbClr val="8224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6"/>
          <p:cNvSpPr txBox="1"/>
          <p:nvPr/>
        </p:nvSpPr>
        <p:spPr>
          <a:xfrm>
            <a:off x="2192572" y="409134"/>
            <a:ext cx="4165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-IT">
                <a:solidFill>
                  <a:srgbClr val="822433"/>
                </a:solidFill>
              </a:rPr>
              <a:t>Conclusions</a:t>
            </a:r>
            <a:r>
              <a:rPr b="0" i="0" lang="it-IT" sz="1400" u="none" cap="none" strike="noStrike">
                <a:solidFill>
                  <a:srgbClr val="8224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it-IT">
                <a:solidFill>
                  <a:schemeClr val="dk2"/>
                </a:solidFill>
              </a:rPr>
              <a:t>●○○</a:t>
            </a:r>
            <a:endParaRPr b="0" i="0" sz="1400" u="none" cap="none" strike="noStrike">
              <a:solidFill>
                <a:srgbClr val="8224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1" name="Google Shape;421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93974" y="533859"/>
            <a:ext cx="643326" cy="643326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6"/>
          <p:cNvSpPr txBox="1"/>
          <p:nvPr/>
        </p:nvSpPr>
        <p:spPr>
          <a:xfrm>
            <a:off x="944875" y="2590150"/>
            <a:ext cx="69555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it-IT" sz="2400">
                <a:solidFill>
                  <a:schemeClr val="dk1"/>
                </a:solidFill>
              </a:rPr>
              <a:t>An application dependant </a:t>
            </a:r>
            <a:r>
              <a:rPr b="1" lang="it-IT" sz="2400">
                <a:solidFill>
                  <a:srgbClr val="822433"/>
                </a:solidFill>
              </a:rPr>
              <a:t>fine tuning process</a:t>
            </a:r>
            <a:endParaRPr b="1" sz="2400">
              <a:solidFill>
                <a:srgbClr val="822433"/>
              </a:solidFill>
            </a:endParaRPr>
          </a:p>
          <a:p>
            <a:pPr indent="0" lvl="0" marL="9144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-3810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it-IT" sz="2400">
                <a:solidFill>
                  <a:schemeClr val="dk1"/>
                </a:solidFill>
              </a:rPr>
              <a:t>Improving the training by utilizing </a:t>
            </a:r>
            <a:r>
              <a:rPr b="1" lang="it-IT" sz="2400">
                <a:solidFill>
                  <a:schemeClr val="dk2"/>
                </a:solidFill>
              </a:rPr>
              <a:t>more data and processing power</a:t>
            </a:r>
            <a:endParaRPr b="1" sz="2400">
              <a:solidFill>
                <a:schemeClr val="dk2"/>
              </a:solidFill>
            </a:endParaRPr>
          </a:p>
        </p:txBody>
      </p:sp>
      <p:sp>
        <p:nvSpPr>
          <p:cNvPr id="423" name="Google Shape;423;p36"/>
          <p:cNvSpPr txBox="1"/>
          <p:nvPr>
            <p:ph idx="11" type="ftr"/>
          </p:nvPr>
        </p:nvSpPr>
        <p:spPr>
          <a:xfrm>
            <a:off x="838200" y="6311950"/>
            <a:ext cx="113538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it-IT"/>
              <a:t>CNN Based Mel-Spectrogram Analysis and Speaker Recognition</a:t>
            </a:r>
            <a:endParaRPr/>
          </a:p>
        </p:txBody>
      </p:sp>
      <p:sp>
        <p:nvSpPr>
          <p:cNvPr id="424" name="Google Shape;424;p36"/>
          <p:cNvSpPr txBox="1"/>
          <p:nvPr>
            <p:ph idx="12" type="sldNum"/>
          </p:nvPr>
        </p:nvSpPr>
        <p:spPr>
          <a:xfrm>
            <a:off x="0" y="6311901"/>
            <a:ext cx="8382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fld id="{00000000-1234-1234-1234-123412341234}" type="slidenum"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b="0" i="0" lang="it-IT" sz="1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it-IT"/>
              <a:t>25</a:t>
            </a:r>
            <a:endParaRPr/>
          </a:p>
        </p:txBody>
      </p:sp>
      <p:pic>
        <p:nvPicPr>
          <p:cNvPr id="425" name="Google Shape;425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67900" y="1975400"/>
            <a:ext cx="2907200" cy="29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logo, symbol, emblem, graphics&#10;&#10;Description automatically generated" id="431" name="Google Shape;431;p37"/>
          <p:cNvPicPr preferRelativeResize="0"/>
          <p:nvPr/>
        </p:nvPicPr>
        <p:blipFill rotWithShape="1">
          <a:blip r:embed="rId3">
            <a:alphaModFix/>
          </a:blip>
          <a:srcRect b="6976" l="10625" r="7370" t="13953"/>
          <a:stretch/>
        </p:blipFill>
        <p:spPr>
          <a:xfrm>
            <a:off x="944880" y="-1712"/>
            <a:ext cx="985520" cy="1129472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7"/>
          <p:cNvSpPr txBox="1"/>
          <p:nvPr>
            <p:ph idx="12" type="sldNum"/>
          </p:nvPr>
        </p:nvSpPr>
        <p:spPr>
          <a:xfrm>
            <a:off x="0" y="6311901"/>
            <a:ext cx="838200" cy="54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/>
              <a:t>‹#›</a:t>
            </a:fld>
            <a:r>
              <a:rPr lang="it-IT"/>
              <a:t>/</a:t>
            </a:r>
            <a:r>
              <a:rPr lang="it-IT"/>
              <a:t>25</a:t>
            </a:r>
            <a:endParaRPr/>
          </a:p>
        </p:txBody>
      </p:sp>
      <p:pic>
        <p:nvPicPr>
          <p:cNvPr descr="A picture containing logo, symbol, emblem, trademark&#10;&#10;Description automatically generated" id="433" name="Google Shape;433;p37"/>
          <p:cNvPicPr preferRelativeResize="0"/>
          <p:nvPr/>
        </p:nvPicPr>
        <p:blipFill rotWithShape="1">
          <a:blip r:embed="rId4">
            <a:alphaModFix/>
          </a:blip>
          <a:srcRect b="9251" l="9767" r="9302" t="14737"/>
          <a:stretch/>
        </p:blipFill>
        <p:spPr>
          <a:xfrm>
            <a:off x="944880" y="0"/>
            <a:ext cx="985520" cy="1127760"/>
          </a:xfrm>
          <a:prstGeom prst="rect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34" name="Google Shape;434;p37"/>
          <p:cNvSpPr txBox="1"/>
          <p:nvPr/>
        </p:nvSpPr>
        <p:spPr>
          <a:xfrm>
            <a:off x="445250" y="1989395"/>
            <a:ext cx="10972800" cy="14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it-IT" sz="4400">
                <a:solidFill>
                  <a:schemeClr val="lt1"/>
                </a:solidFill>
              </a:rPr>
              <a:t>CNN Based Mel-Spectrogram Analysis and Voice Identification</a:t>
            </a:r>
            <a:endParaRPr b="1" sz="4400">
              <a:solidFill>
                <a:schemeClr val="lt1"/>
              </a:solidFill>
            </a:endParaRPr>
          </a:p>
        </p:txBody>
      </p:sp>
      <p:sp>
        <p:nvSpPr>
          <p:cNvPr id="435" name="Google Shape;435;p37"/>
          <p:cNvSpPr txBox="1"/>
          <p:nvPr/>
        </p:nvSpPr>
        <p:spPr>
          <a:xfrm>
            <a:off x="2955265" y="4297914"/>
            <a:ext cx="5900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it-IT"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Thank you for the attention</a:t>
            </a:r>
            <a:r>
              <a:rPr i="1" lang="it-IT" sz="3200">
                <a:solidFill>
                  <a:schemeClr val="lt1"/>
                </a:solidFill>
              </a:rPr>
              <a:t>!</a:t>
            </a:r>
            <a:endParaRPr i="1" sz="3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Thesis">
      <a:dk1>
        <a:srgbClr val="000000"/>
      </a:dk1>
      <a:lt1>
        <a:srgbClr val="FFFFFF"/>
      </a:lt1>
      <a:dk2>
        <a:srgbClr val="822433"/>
      </a:dk2>
      <a:lt2>
        <a:srgbClr val="E7E6E6"/>
      </a:lt2>
      <a:accent1>
        <a:srgbClr val="C00000"/>
      </a:accent1>
      <a:accent2>
        <a:srgbClr val="F995BB"/>
      </a:accent2>
      <a:accent3>
        <a:srgbClr val="FBCDE0"/>
      </a:accent3>
      <a:accent4>
        <a:srgbClr val="FEDEEB"/>
      </a:accent4>
      <a:accent5>
        <a:srgbClr val="92D050"/>
      </a:accent5>
      <a:accent6>
        <a:srgbClr val="48A1FA"/>
      </a:accent6>
      <a:hlink>
        <a:srgbClr val="FF0000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